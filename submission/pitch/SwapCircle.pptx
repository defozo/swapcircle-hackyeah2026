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f2bf0972dc4158" /><Relationship Type="http://schemas.openxmlformats.org/officeDocument/2006/relationships/extended-properties" Target="/docProps/app.xml" Id="R6bd1e8375643488f" /><Relationship Type="http://schemas.openxmlformats.org/officeDocument/2006/relationships/officeDocument" Target="/ppt/presentation.xml" Id="R416b12011ee543cb" /></Relationships>
</file>

<file path=ppt/presentation.xml><?xml version="1.0" encoding="utf-8"?>
<p:presentation xmlns:p="http://schemas.openxmlformats.org/presentationml/2006/main">
  <p:sldMasterIdLst>
    <p:sldMasterId xmlns:r="http://schemas.openxmlformats.org/officeDocument/2006/relationships" id="2147483648" r:id="R12d9c4f8e5cf4a89"/>
  </p:sldMasterIdLst>
  <p:notesMasterIdLst>
    <p:notesMasterId xmlns:r="http://schemas.openxmlformats.org/officeDocument/2006/relationships" r:id="R5de5b0bb7c024687"/>
  </p:notesMasterIdLst>
  <p:sldIdLst>
    <p:sldId xmlns:r="http://schemas.openxmlformats.org/officeDocument/2006/relationships" id="256" r:id="Rebf651ff9d634900"/>
    <p:sldId xmlns:r="http://schemas.openxmlformats.org/officeDocument/2006/relationships" id="257" r:id="R34768d031e444610"/>
    <p:sldId xmlns:r="http://schemas.openxmlformats.org/officeDocument/2006/relationships" id="258" r:id="Racbfdd31a0a3405e"/>
    <p:sldId xmlns:r="http://schemas.openxmlformats.org/officeDocument/2006/relationships" id="259" r:id="R42dc24983b9246e8"/>
    <p:sldId xmlns:r="http://schemas.openxmlformats.org/officeDocument/2006/relationships" id="260" r:id="Rc354c170cb1a485b"/>
    <p:sldId xmlns:r="http://schemas.openxmlformats.org/officeDocument/2006/relationships" id="261" r:id="Rf01e3f8500b74084"/>
    <p:sldId xmlns:r="http://schemas.openxmlformats.org/officeDocument/2006/relationships" id="262" r:id="R01836121a4cd4f84"/>
    <p:sldId xmlns:r="http://schemas.openxmlformats.org/officeDocument/2006/relationships" id="263" r:id="R72c42d41f5d44516"/>
    <p:sldId xmlns:r="http://schemas.openxmlformats.org/officeDocument/2006/relationships" id="264" r:id="R31ad1f7bffd847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d71a4dc4e544cb" /><Relationship Type="http://schemas.openxmlformats.org/officeDocument/2006/relationships/slideMaster" Target="/ppt/slideMasters/slideMaster1.xml" Id="R12d9c4f8e5cf4a89" /><Relationship Type="http://schemas.openxmlformats.org/officeDocument/2006/relationships/notesMaster" Target="/ppt/notesMasters/notesMaster1.xml" Id="R5de5b0bb7c024687" /><Relationship Type="http://schemas.openxmlformats.org/officeDocument/2006/relationships/presProps" Target="/ppt/presProps.xml" Id="Rc58664ae3e1f4fe3" /><Relationship Type="http://schemas.openxmlformats.org/officeDocument/2006/relationships/tableStyles" Target="/ppt/tableStyles.xml" Id="R818395f713154fae" /><Relationship Type="http://schemas.openxmlformats.org/officeDocument/2006/relationships/slide" Target="/ppt/slides/slide1.xml" Id="Rebf651ff9d634900" /><Relationship Type="http://schemas.openxmlformats.org/officeDocument/2006/relationships/slide" Target="/ppt/slides/slide2.xml" Id="R34768d031e444610" /><Relationship Type="http://schemas.openxmlformats.org/officeDocument/2006/relationships/slide" Target="/ppt/slides/slide3.xml" Id="Racbfdd31a0a3405e" /><Relationship Type="http://schemas.openxmlformats.org/officeDocument/2006/relationships/slide" Target="/ppt/slides/slide4.xml" Id="R42dc24983b9246e8" /><Relationship Type="http://schemas.openxmlformats.org/officeDocument/2006/relationships/slide" Target="/ppt/slides/slide5.xml" Id="Rc354c170cb1a485b" /><Relationship Type="http://schemas.openxmlformats.org/officeDocument/2006/relationships/slide" Target="/ppt/slides/slide6.xml" Id="Rf01e3f8500b74084" /><Relationship Type="http://schemas.openxmlformats.org/officeDocument/2006/relationships/slide" Target="/ppt/slides/slide7.xml" Id="R01836121a4cd4f84" /><Relationship Type="http://schemas.openxmlformats.org/officeDocument/2006/relationships/slide" Target="/ppt/slides/slide8.xml" Id="R72c42d41f5d44516" /><Relationship Type="http://schemas.openxmlformats.org/officeDocument/2006/relationships/slide" Target="/ppt/slides/slide9.xml" Id="R31ad1f7bffd847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1b60c325d041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wapCircle">
      <a:dk1>
        <a:srgbClr val="0C1424"/>
      </a:dk1>
      <a:lt1>
        <a:srgbClr val="F0F4F9"/>
      </a:lt1>
      <a:dk2>
        <a:srgbClr val="181F29"/>
      </a:dk2>
      <a:lt2>
        <a:srgbClr val="ABB9CE"/>
      </a:lt2>
      <a:accent1>
        <a:srgbClr val="B8EF6C"/>
      </a:accent1>
      <a:accent2>
        <a:srgbClr val="ABB9CE"/>
      </a:accent2>
      <a:accent3>
        <a:srgbClr val="DCC281"/>
      </a:accent3>
      <a:accent4>
        <a:srgbClr val="94A8E7"/>
      </a:accent4>
      <a:accent5>
        <a:srgbClr val="AEE5CC"/>
      </a:accent5>
      <a:accent6>
        <a:srgbClr val="E4AC9D"/>
      </a:accent6>
      <a:hlink>
        <a:srgbClr val="B8EF6C"/>
      </a:hlink>
      <a:folHlink>
        <a:srgbClr val="B8EF6C"/>
      </a:folHlink>
    </a:clrScheme>
    <a:fontScheme name="Office">
      <a:majorFont>
        <a:latin typeface="Calibri Light"/>
        <a:ea typeface="Calibri Light"/>
        <a:cs typeface="Calibri Light"/>
      </a:majorFont>
      <a:minorFont>
        <a:latin typeface="Calibri"/>
        <a:ea typeface="Calibri"/>
        <a:cs typeface="Calibri"/>
      </a:minorFont>
    </a:fontScheme>
    <a:fmtScheme name="SwapCircl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b442c661564742" /><Relationship Type="http://schemas.openxmlformats.org/officeDocument/2006/relationships/notesMaster" Target="/ppt/notesMasters/notesMaster1.xml" Id="R408da9e2503243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3aade1101f4f05" /><Relationship Type="http://schemas.openxmlformats.org/officeDocument/2006/relationships/notesMaster" Target="/ppt/notesMasters/notesMaster1.xml" Id="R55f333ffb5dd40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6d6a98e4064342" /><Relationship Type="http://schemas.openxmlformats.org/officeDocument/2006/relationships/notesMaster" Target="/ppt/notesMasters/notesMaster1.xml" Id="R8946fc471ecf40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d875ca4b674d18" /><Relationship Type="http://schemas.openxmlformats.org/officeDocument/2006/relationships/notesMaster" Target="/ppt/notesMasters/notesMaster1.xml" Id="R20fe5e5274e14f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c6b179c9c0458b" /><Relationship Type="http://schemas.openxmlformats.org/officeDocument/2006/relationships/notesMaster" Target="/ppt/notesMasters/notesMaster1.xml" Id="R3833653f51824b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bdc1c38de54ab9" /><Relationship Type="http://schemas.openxmlformats.org/officeDocument/2006/relationships/notesMaster" Target="/ppt/notesMasters/notesMaster1.xml" Id="R5894fa0f10f94c0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d50da267ca470f" /><Relationship Type="http://schemas.openxmlformats.org/officeDocument/2006/relationships/notesMaster" Target="/ppt/notesMasters/notesMaster1.xml" Id="R465794fe46fa41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fcb7b7a7954e0f" /><Relationship Type="http://schemas.openxmlformats.org/officeDocument/2006/relationships/notesMaster" Target="/ppt/notesMasters/notesMaster1.xml" Id="R31621fec8eb944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3e57137b5d3432c" /><Relationship Type="http://schemas.openxmlformats.org/officeDocument/2006/relationships/notesMaster" Target="/ppt/notesMasters/notesMaster1.xml" Id="R871576b0bdcd44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SwapCircle</a:t>
            </a:r>
          </a:p>
          <a:p xmlns:a="http://schemas.openxmlformats.org/drawingml/2006/main">
            <a:r>
              <a:t/>
            </a:r>
          </a:p>
          <a:p xmlns:a="http://schemas.openxmlformats.org/drawingml/2006/main">
            <a:r>
              <a:t>W wymianie z obcą osobą ktoś zwykle musi wysłać pierwszy. W małej społeczności dochodzi jeszcze drugi problem: dwie oferty nie zawsze do siebie pasują. SwapCircle wyszukuje wymiany między dwiema, trzema lub czterema osobami i łączy je ze wspólnym rozliczeniem. Uczestnicy wpłacają niezależnie. Powiernika depozytów zastępuje program Solany.</a:t>
            </a:r>
          </a:p>
          <a:p xmlns:a="http://schemas.openxmlformats.org/drawingml/2006/main">
            <a:r>
              <a:t/>
            </a:r>
          </a:p>
          <a:p xmlns:a="http://schemas.openxmlformats.org/drawingml/2006/main">
            <a:r>
              <a:t>Źródła: official-2026-10-03/PLAN.md,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Trzy oferty bez zgodnej pary</a:t>
            </a:r>
          </a:p>
          <a:p xmlns:a="http://schemas.openxmlformats.org/drawingml/2006/main">
            <a:r>
              <a:t/>
            </a:r>
          </a:p>
          <a:p xmlns:a="http://schemas.openxmlformats.org/drawingml/2006/main">
            <a:r>
              <a:t>Alicja oddaje sto dX i szuka czterdziestu dY. Bartek oferuje czterdzieści dY za dwieście pięćdziesiąt dZ. Celina ma dwieście pięćdziesiąt dZ i chce sto dX. Spójrzmy na dowolną parę: jedna z osób nie otrzyma tego, czego potrzebuje. Ale w całej grupie są już wszystkie potrzebne tokeny. To przykład demonstracyjny. Kwoty wynikają z ofert, a nie z wyceny rynku.</a:t>
            </a:r>
          </a:p>
          <a:p xmlns:a="http://schemas.openxmlformats.org/drawingml/2006/main">
            <a:r>
              <a:t/>
            </a:r>
          </a:p>
          <a:p xmlns:a="http://schemas.openxmlformats.org/drawingml/2006/main">
            <a:r>
              <a:t>Źródła: official-2026-10-03/PLAN.md,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Krąg łączy wszystkie potrzeby</a:t>
            </a:r>
          </a:p>
          <a:p xmlns:a="http://schemas.openxmlformats.org/drawingml/2006/main">
            <a:r>
              <a:t/>
            </a:r>
          </a:p>
          <a:p xmlns:a="http://schemas.openxmlformats.org/drawingml/2006/main">
            <a:r>
              <a:t>Wyszukiwarka porównuje oferty i znajduje krąg. Alicja przekazuje sto dX Celinie. Celina przekazuje dwieście pięćdziesiąt dZ Bartkowi. Bartek przekazuje czterdzieści dY Alicji. Każda osoba dostaje dokładnie to, czego szukała. Ten sam mechanizm szuka zgodnych kręgów dwóch, trzech i czterech różnych właścicieli.</a:t>
            </a:r>
          </a:p>
          <a:p xmlns:a="http://schemas.openxmlformats.org/drawingml/2006/main">
            <a:r>
              <a:t/>
            </a:r>
          </a:p>
          <a:p xmlns:a="http://schemas.openxmlformats.org/drawingml/2006/main">
            <a:r>
              <a:t>Źródła: official-2026-10-03/PLAN.md, §3-4</a:t>
            </a:r>
          </a:p>
          <a:p xmlns:a="http://schemas.openxmlformats.org/drawingml/2006/main">
            <a:r>
              <a:t>packages/matching/src/index.ts</a:t>
            </a:r>
          </a:p>
          <a:p xmlns:a="http://schemas.openxmlformats.org/drawingml/2006/main">
            <a:r>
              <a:t>apps/web/src/demo-state.ts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Warunki widoczne przed wpłatą</a:t>
            </a:r>
          </a:p>
          <a:p xmlns:a="http://schemas.openxmlformats.org/drawingml/2006/main">
            <a:r>
              <a:t/>
            </a:r>
          </a:p>
          <a:p xmlns:a="http://schemas.openxmlformats.org/drawingml/2006/main">
            <a:r>
              <a:t>Przed wpłatą uczestnik sprawdza, co oddaje, co otrzyma i do kiedy potrwa blokada. Warunki obejmują dokładne tokeny, ilości oraz odbiorców. W tym demo wybieramy dwie minuty. Wpłata oznacza akceptację konkretnego kręgu. Środki czekają do rozliczenia albo do chwili, w której można wystąpić o zwrot po terminie.</a:t>
            </a:r>
          </a:p>
          <a:p xmlns:a="http://schemas.openxmlformats.org/drawingml/2006/main">
            <a:r>
              <a:t/>
            </a:r>
          </a:p>
          <a:p xmlns:a="http://schemas.openxmlformats.org/drawingml/2006/main">
            <a:r>
              <a:t>Źródła: official-2026-10-03/PLAN.md, §3-4</a:t>
            </a:r>
          </a:p>
          <a:p xmlns:a="http://schemas.openxmlformats.org/drawingml/2006/main">
            <a:r>
              <a:t>https://github.com/Defozo/swapcircle-hackyeah2026/blob/main/programs/swapcircle/src/lib.rs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Każdy wpłaca we własnym czasie</a:t>
            </a:r>
          </a:p>
          <a:p xmlns:a="http://schemas.openxmlformats.org/drawingml/2006/main">
            <a:r>
              <a:t/>
            </a:r>
          </a:p>
          <a:p xmlns:a="http://schemas.openxmlformats.org/drawingml/2006/main">
            <a:r>
              <a:t>Alicja wpłaca pierwsza. Jej tokeny czekają w skarbcu programu. Później wpłaca Bartek. Oboje mogą odejść od aplikacji. Celina dołącza w swoim czasie, przed ustalonym terminem. Wcześniejsi uczestnicy nie muszą ponownie podpisywać wspólnego rozliczenia.</a:t>
            </a:r>
          </a:p>
          <a:p xmlns:a="http://schemas.openxmlformats.org/drawingml/2006/main">
            <a:r>
              <a:t/>
            </a:r>
          </a:p>
          <a:p xmlns:a="http://schemas.openxmlformats.org/drawingml/2006/main">
            <a:r>
              <a:t>Źródła: https://github.com/Defozo/swapcircle-hackyeah2026/blob/main/programs/swapcircle/src/lib.rs</a:t>
            </a:r>
          </a:p>
          <a:p xmlns:a="http://schemas.openxmlformats.org/drawingml/2006/main">
            <a:r>
              <a:t>apps/web/src/demo-state.ts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Ostatnia wpłata rozlicza cały krąg</a:t>
            </a:r>
          </a:p>
          <a:p xmlns:a="http://schemas.openxmlformats.org/drawingml/2006/main">
            <a:r>
              <a:t/>
            </a:r>
          </a:p>
          <a:p xmlns:a="http://schemas.openxmlformats.org/drawingml/2006/main">
            <a:r>
              <a:t>Celina wykonuje ostatnią wpłatę. W tej samej transakcji program realizuje wszystkie uzgodnione przekazania. Alicja otrzymuje czterdzieści dY. Bartek dostaje dwieście pięćdziesiąt dZ, a Celina sto dX. Nie ma kolejnego zatwierdzenia przez operatora. Atomowość oznacza, że ostatnia wpłata i wszystkie transfery kończą się razem. Jeśli któryś transfer zawiedzie, ta transakcja nie wykona się częściowo.</a:t>
            </a:r>
          </a:p>
          <a:p xmlns:a="http://schemas.openxmlformats.org/drawingml/2006/main">
            <a:r>
              <a:t/>
            </a:r>
          </a:p>
          <a:p xmlns:a="http://schemas.openxmlformats.org/drawingml/2006/main">
            <a:r>
              <a:t>Źródła: https://github.com/Defozo/swapcircle-hackyeah2026/blob/main/programs/swapcircle/src/lib.rs</a:t>
            </a:r>
          </a:p>
          <a:p xmlns:a="http://schemas.openxmlformats.org/drawingml/2006/main">
            <a:r>
              <a:t>apps/web/src/demo-state.ts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Niezależny zwrot po terminie</a:t>
            </a:r>
          </a:p>
          <a:p xmlns:a="http://schemas.openxmlformats.org/drawingml/2006/main">
            <a:r>
              <a:t/>
            </a:r>
          </a:p>
          <a:p xmlns:a="http://schemas.openxmlformats.org/drawingml/2006/main">
            <a:r>
              <a:t>Drugi scenariusz: Alicja i Bartek wpłacili, ale Celina nie dołączyła. Po terminie nowe wpłaty są zamknięte. Alicja odbiera własne sto dX. Bartek oddzielnie odbiera czterdzieści dY. Żadne z nich nie potrzebuje zgody Celiny ani operatora. Reguła zwrotu kieruje tokeny do pierwotnego właściciela. Zwrot dotyczy tokenów depozytu, nie kosztów sieci.</a:t>
            </a:r>
          </a:p>
          <a:p xmlns:a="http://schemas.openxmlformats.org/drawingml/2006/main">
            <a:r>
              <a:t/>
            </a:r>
          </a:p>
          <a:p xmlns:a="http://schemas.openxmlformats.org/drawingml/2006/main">
            <a:r>
              <a:t>Źródła: https://github.com/Defozo/swapcircle-hackyeah2026/blob/main/programs/swapcircle/src/lib.rs</a:t>
            </a:r>
          </a:p>
          <a:p xmlns:a="http://schemas.openxmlformats.org/drawingml/2006/main">
            <a:r>
              <a:t>scripts/recover.ts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Program przejmuje rolę powiernika</a:t>
            </a:r>
          </a:p>
          <a:p xmlns:a="http://schemas.openxmlformats.org/drawingml/2006/main">
            <a:r>
              <a:t/>
            </a:r>
          </a:p>
          <a:p xmlns:a="http://schemas.openxmlformats.org/drawingml/2006/main">
            <a:r>
              <a:t>Wyszukiwarka pomaga odkryć wymianę, ale sama nie kontroluje aktywów. Program Solany sprawdza właściciela wpłaty i zaakceptowane warunki. Zarządza depozytami, wykonuje kompletne rozliczenie i dopuszcza zwrot po terminie. Operator aplikacji nie podejmuje decyzji o wypłacie. To powód użycia blockchaina: zwykła baza ofert nie może egzekwować tych transferów bez powierzenia komuś klucza do depozytów.</a:t>
            </a:r>
          </a:p>
          <a:p xmlns:a="http://schemas.openxmlformats.org/drawingml/2006/main">
            <a:r>
              <a:t/>
            </a:r>
          </a:p>
          <a:p xmlns:a="http://schemas.openxmlformats.org/drawingml/2006/main">
            <a:r>
              <a:t>Źródła: https://github.com/Defozo/swapcircle-hackyeah2026/blob/main/programs/swapcircle/src/lib.rs</a:t>
            </a:r>
          </a:p>
          <a:p xmlns:a="http://schemas.openxmlformats.org/drawingml/2006/main">
            <a:r>
              <a:t>official-2026-10-03/materials/3b73ed0c42b8c22b.pdf.txt, §2 i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SwapCircle w Twojej społeczności</a:t>
            </a:r>
          </a:p>
          <a:p xmlns:a="http://schemas.openxmlformats.org/drawingml/2006/main">
            <a:r>
              <a:t/>
            </a:r>
          </a:p>
          <a:p xmlns:a="http://schemas.openxmlformats.org/drawingml/2006/main">
            <a:r>
              <a:t>SwapCircle kierujemy do małych społeczności Solany, w których użytkownicy mają konkretne potrzeby wymiany klasycznych tokenów SPL. Publiczne SDK pozwala osadzić mechanizm w aplikacji społeczności. Następny krok to pilotaż na rzeczywistych ofertach i sprawdzenie, ile potrzeb dają się zaspokoić kręgami oraz jaki czas blokady użytkownicy akceptują. Teraz można otworzyć demo, przeprowadzić pełną wymianę i sprawdzić samodzielny zwrot.</a:t>
            </a:r>
          </a:p>
          <a:p xmlns:a="http://schemas.openxmlformats.org/drawingml/2006/main">
            <a:r>
              <a:t/>
            </a:r>
          </a:p>
          <a:p xmlns:a="http://schemas.openxmlformats.org/drawingml/2006/main">
            <a:r>
              <a:t>Źródła: official-2026-10-03/PLAN.md, §3-4</a:t>
            </a:r>
          </a:p>
          <a:p xmlns:a="http://schemas.openxmlformats.org/drawingml/2006/main">
            <a:r>
              <a:t>https://github.com/Defozo/swapcircle-hackyeah2026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1092cf45e148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605f7ad1574b3a" /><Relationship Type="http://schemas.openxmlformats.org/officeDocument/2006/relationships/slideLayout" Target="/ppt/slideLayouts/slideLayout1.xml" Id="R508feb5f7b4e4f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8feb5f7b4e4f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wapCircle">
      <a:dk1>
        <a:srgbClr val="0C1424"/>
      </a:dk1>
      <a:lt1>
        <a:srgbClr val="F0F4F9"/>
      </a:lt1>
      <a:dk2>
        <a:srgbClr val="181F29"/>
      </a:dk2>
      <a:lt2>
        <a:srgbClr val="ABB9CE"/>
      </a:lt2>
      <a:accent1>
        <a:srgbClr val="B8EF6C"/>
      </a:accent1>
      <a:accent2>
        <a:srgbClr val="ABB9CE"/>
      </a:accent2>
      <a:accent3>
        <a:srgbClr val="DCC281"/>
      </a:accent3>
      <a:accent4>
        <a:srgbClr val="94A8E7"/>
      </a:accent4>
      <a:accent5>
        <a:srgbClr val="AEE5CC"/>
      </a:accent5>
      <a:accent6>
        <a:srgbClr val="E4AC9D"/>
      </a:accent6>
      <a:hlink>
        <a:srgbClr val="B8EF6C"/>
      </a:hlink>
      <a:folHlink>
        <a:srgbClr val="B8EF6C"/>
      </a:folHlink>
    </a:clrScheme>
    <a:fontScheme name="Office">
      <a:majorFont>
        <a:latin typeface="Calibri Light"/>
        <a:ea typeface="Calibri Light"/>
        <a:cs typeface="Calibri Light"/>
      </a:majorFont>
      <a:minorFont>
        <a:latin typeface="Calibri"/>
        <a:ea typeface="Calibri"/>
        <a:cs typeface="Calibri"/>
      </a:minorFont>
    </a:fontScheme>
    <a:fmtScheme name="SwapCircl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570d038e045485d" /><Relationship Type="http://schemas.openxmlformats.org/officeDocument/2006/relationships/notesSlide" Target="/ppt/notesSlides/notesSlide1.xml" Id="R1917c5118cd642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6bacf7d23fa411b" /><Relationship Type="http://schemas.openxmlformats.org/officeDocument/2006/relationships/notesSlide" Target="/ppt/notesSlides/notesSlide2.xml" Id="Ra967c9db023f44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9963dee8dfb4bea" /><Relationship Type="http://schemas.openxmlformats.org/officeDocument/2006/relationships/image" Target="/ppt/media/image.png" Id="Rfe35ed106b1e4e0e" /><Relationship Type="http://schemas.openxmlformats.org/officeDocument/2006/relationships/notesSlide" Target="/ppt/notesSlides/notesSlide3.xml" Id="R1bdaf2de5f0647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0d118a7e6446d1" /><Relationship Type="http://schemas.openxmlformats.org/officeDocument/2006/relationships/image" Target="/ppt/media/image2.png" Id="R58bc93fa2d34441b" /><Relationship Type="http://schemas.openxmlformats.org/officeDocument/2006/relationships/notesSlide" Target="/ppt/notesSlides/notesSlide4.xml" Id="R2a915d20d23f4e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d53e1d952fe4f6a" /><Relationship Type="http://schemas.openxmlformats.org/officeDocument/2006/relationships/image" Target="/ppt/media/image3.png" Id="R277ee21566334cc0" /><Relationship Type="http://schemas.openxmlformats.org/officeDocument/2006/relationships/notesSlide" Target="/ppt/notesSlides/notesSlide5.xml" Id="R7b1919f4a8fc4e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0ba480f9e9b4c62" /><Relationship Type="http://schemas.openxmlformats.org/officeDocument/2006/relationships/image" Target="/ppt/media/image4.png" Id="Ra872839f8cdd4679" /><Relationship Type="http://schemas.openxmlformats.org/officeDocument/2006/relationships/notesSlide" Target="/ppt/notesSlides/notesSlide6.xml" Id="Rc5c209a23a1a46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6d8226665ee4901" /><Relationship Type="http://schemas.openxmlformats.org/officeDocument/2006/relationships/image" Target="/ppt/media/image5.png" Id="R8e2815e9a67e4579" /><Relationship Type="http://schemas.openxmlformats.org/officeDocument/2006/relationships/notesSlide" Target="/ppt/notesSlides/notesSlide7.xml" Id="R49935d441d244c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a2646f69598477b" /><Relationship Type="http://schemas.openxmlformats.org/officeDocument/2006/relationships/notesSlide" Target="/ppt/notesSlides/notesSlide8.xml" Id="R665d96add70346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8c177edcdaf4066" /><Relationship Type="http://schemas.openxmlformats.org/officeDocument/2006/relationships/hyperlink" Target="https://defozo.github.io/swapcircle-hackyeah2026/" TargetMode="External" Id="Rb0c885aac8294cfd" /><Relationship Type="http://schemas.openxmlformats.org/officeDocument/2006/relationships/hyperlink" Target="https://github.com/Defozo/swapcircle-hackyeah2026" TargetMode="External" Id="R20d63656231f4a42" /><Relationship Type="http://schemas.openxmlformats.org/officeDocument/2006/relationships/notesSlide" Target="/ppt/notesSlides/notesSlide9.xml" Id="R3af157ec0d5944ac" /></Relationships>
</file>

<file path=ppt/slides/slide1.xml><?xml version="1.0" encoding="utf-8"?>
<p:sld xmlns:p="http://schemas.openxmlformats.org/presentationml/2006/main">
  <p:cSld>
    <p:bg>
      <p:bgPr>
        <a:solidFill xmlns:a="http://schemas.openxmlformats.org/drawingml/2006/main">
          <a:srgbClr val="0C1424"/>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7B43F76F-8D26-4807-B474-711335D8A7AB}"/>
              </a:ext>
            </a:extLst>
          </p:cNvPr>
          <p:cNvSpPr>
            <a:spLocks xmlns:a="http://schemas.openxmlformats.org/drawingml/2006/main" noGrp="1"/>
          </p:cNvSpPr>
          <p:nvPr/>
        </p:nvSpPr>
        <p:spPr>
          <a:xfrm xmlns:a="http://schemas.openxmlformats.org/drawingml/2006/main">
            <a:off x="10820400" y="632460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1 / 9</a:t>
            </a:r>
          </a:p>
        </p:txBody>
      </p:sp>
      <p:sp>
        <p:nvSpPr>
          <p:cNvPr id="2" name="text-2">
            <a:extLst xmlns:a="http://schemas.openxmlformats.org/drawingml/2006/main">
              <a:ext uri="{FF2B5EF4-FFF2-40B4-BE49-F238E27FC236}">
                <a16:creationId xmlns:a16="http://schemas.microsoft.com/office/drawing/2014/main" id="{B1F2D8F5-0782-4AE5-99B0-F4DD6FE6043A}"/>
              </a:ext>
            </a:extLst>
          </p:cNvPr>
          <p:cNvSpPr>
            <a:spLocks xmlns:a="http://schemas.openxmlformats.org/drawingml/2006/main" noGrp="1"/>
          </p:cNvSpPr>
          <p:nvPr/>
        </p:nvSpPr>
        <p:spPr>
          <a:xfrm xmlns:a="http://schemas.openxmlformats.org/drawingml/2006/main">
            <a:off x="685800" y="9525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900" b="1">
                <a:solidFill>
                  <a:srgbClr val="B8EF6C"/>
                </a:solidFill>
                <a:latin typeface="Segoe UI"/>
                <a:ea typeface="Segoe UI"/>
                <a:cs typeface="Segoe UI"/>
              </a:defRPr>
            </a:pPr>
            <a:r>
              <a:rPr sz="6900" b="1">
                <a:solidFill>
                  <a:srgbClr val="B8EF6C"/>
                </a:solidFill>
                <a:latin typeface="Segoe UI"/>
                <a:ea typeface="Segoe UI"/>
                <a:cs typeface="Segoe UI"/>
              </a:rPr>
              <a:t>SwapCircle</a:t>
            </a:r>
          </a:p>
        </p:txBody>
      </p:sp>
      <p:sp>
        <p:nvSpPr>
          <p:cNvPr id="3" name="text-3">
            <a:extLst xmlns:a="http://schemas.openxmlformats.org/drawingml/2006/main">
              <a:ext uri="{FF2B5EF4-FFF2-40B4-BE49-F238E27FC236}">
                <a16:creationId xmlns:a16="http://schemas.microsoft.com/office/drawing/2014/main" id="{13E28E9B-89C1-475C-840A-7267B150C6E8}"/>
              </a:ext>
            </a:extLst>
          </p:cNvPr>
          <p:cNvSpPr>
            <a:spLocks xmlns:a="http://schemas.openxmlformats.org/drawingml/2006/main" noGrp="1"/>
          </p:cNvSpPr>
          <p:nvPr/>
        </p:nvSpPr>
        <p:spPr>
          <a:xfrm xmlns:a="http://schemas.openxmlformats.org/drawingml/2006/main">
            <a:off x="685800" y="2619375"/>
            <a:ext cx="9525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750" b="1">
                <a:solidFill>
                  <a:srgbClr val="F0F4F9"/>
                </a:solidFill>
                <a:latin typeface="Segoe UI"/>
                <a:ea typeface="Segoe UI"/>
                <a:cs typeface="Segoe UI"/>
              </a:defRPr>
            </a:pPr>
            <a:r>
              <a:rPr sz="3750" b="1">
                <a:solidFill>
                  <a:srgbClr val="F0F4F9"/>
                </a:solidFill>
                <a:latin typeface="Segoe UI"/>
                <a:ea typeface="Segoe UI"/>
                <a:cs typeface="Segoe UI"/>
              </a:rPr>
              <a:t>Wymiana tokenów</a:t>
            </a:r>
          </a:p>
          <a:p xmlns:a="http://schemas.openxmlformats.org/drawingml/2006/main">
            <a:pPr>
              <a:defRPr sz="3750" b="1">
                <a:solidFill>
                  <a:srgbClr val="F0F4F9"/>
                </a:solidFill>
                <a:latin typeface="Segoe UI"/>
                <a:ea typeface="Segoe UI"/>
                <a:cs typeface="Segoe UI"/>
              </a:defRPr>
            </a:pPr>
            <a:r>
              <a:rPr sz="3750" b="1">
                <a:solidFill>
                  <a:srgbClr val="F0F4F9"/>
                </a:solidFill>
                <a:latin typeface="Segoe UI"/>
                <a:ea typeface="Segoe UI"/>
                <a:cs typeface="Segoe UI"/>
              </a:rPr>
              <a:t>bez powiernika depozytów</a:t>
            </a:r>
          </a:p>
        </p:txBody>
      </p:sp>
      <p:sp>
        <p:nvSpPr>
          <p:cNvPr id="4" name="text-4">
            <a:extLst xmlns:a="http://schemas.openxmlformats.org/drawingml/2006/main">
              <a:ext uri="{FF2B5EF4-FFF2-40B4-BE49-F238E27FC236}">
                <a16:creationId xmlns:a16="http://schemas.microsoft.com/office/drawing/2014/main" id="{32A12B0A-FDCB-4BB6-9053-B01BE1C0AB5F}"/>
              </a:ext>
            </a:extLst>
          </p:cNvPr>
          <p:cNvSpPr>
            <a:spLocks xmlns:a="http://schemas.openxmlformats.org/drawingml/2006/main" noGrp="1"/>
          </p:cNvSpPr>
          <p:nvPr/>
        </p:nvSpPr>
        <p:spPr>
          <a:xfrm xmlns:a="http://schemas.openxmlformats.org/drawingml/2006/main">
            <a:off x="723900" y="4429125"/>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ABB9CE"/>
                </a:solidFill>
                <a:latin typeface="Segoe UI"/>
                <a:ea typeface="Segoe UI"/>
                <a:cs typeface="Segoe UI"/>
              </a:defRPr>
            </a:pPr>
            <a:r>
              <a:rPr sz="2100" b="0">
                <a:solidFill>
                  <a:srgbClr val="ABB9CE"/>
                </a:solidFill>
                <a:latin typeface="Segoe UI"/>
                <a:ea typeface="Segoe UI"/>
                <a:cs typeface="Segoe UI"/>
              </a:rPr>
              <a:t>Dla małych społeczności Solany. Od 2 do 4 uczestników.</a:t>
            </a:r>
          </a:p>
        </p:txBody>
      </p:sp>
      <p:sp>
        <p:nvSpPr>
          <p:cNvPr id="5" name="text-5">
            <a:extLst xmlns:a="http://schemas.openxmlformats.org/drawingml/2006/main">
              <a:ext uri="{FF2B5EF4-FFF2-40B4-BE49-F238E27FC236}">
                <a16:creationId xmlns:a16="http://schemas.microsoft.com/office/drawing/2014/main" id="{F8527E68-016F-4B33-B4D2-C00E924094C3}"/>
              </a:ext>
            </a:extLst>
          </p:cNvPr>
          <p:cNvSpPr>
            <a:spLocks xmlns:a="http://schemas.openxmlformats.org/drawingml/2006/main" noGrp="1"/>
          </p:cNvSpPr>
          <p:nvPr/>
        </p:nvSpPr>
        <p:spPr>
          <a:xfrm xmlns:a="http://schemas.openxmlformats.org/drawingml/2006/main">
            <a:off x="723900" y="5648325"/>
            <a:ext cx="9906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ABB9CE"/>
                </a:solidFill>
                <a:latin typeface="Segoe UI"/>
                <a:ea typeface="Segoe UI"/>
                <a:cs typeface="Segoe UI"/>
              </a:defRPr>
            </a:pPr>
            <a:r>
              <a:rPr sz="1650" b="0">
                <a:solidFill>
                  <a:srgbClr val="ABB9CE"/>
                </a:solidFill>
                <a:latin typeface="Segoe UI"/>
                <a:ea typeface="Segoe UI"/>
                <a:cs typeface="Segoe UI"/>
              </a:rPr>
              <a:t>DEFOZO SOFTWARE HOUSE</a:t>
            </a:r>
          </a:p>
          <a:p xmlns:a="http://schemas.openxmlformats.org/drawingml/2006/main">
            <a:pPr>
              <a:defRPr sz="1650" b="0">
                <a:solidFill>
                  <a:srgbClr val="ABB9CE"/>
                </a:solidFill>
                <a:latin typeface="Segoe UI"/>
                <a:ea typeface="Segoe UI"/>
                <a:cs typeface="Segoe UI"/>
              </a:defRPr>
            </a:pPr>
            <a:r>
              <a:rPr sz="1650" b="0">
                <a:solidFill>
                  <a:srgbClr val="ABB9CE"/>
                </a:solidFill>
                <a:latin typeface="Segoe UI"/>
                <a:ea typeface="Segoe UI"/>
                <a:cs typeface="Segoe UI"/>
              </a:rPr>
              <a:t>Michał Kiełtyka</a:t>
            </a:r>
          </a:p>
        </p:txBody>
      </p:sp>
    </p:spTree>
    <p:extLst>
      <p:ext uri="{BB962C8B-B14F-4D97-AF65-F5344CB8AC3E}">
        <p14:creationId xmlns:p14="http://schemas.microsoft.com/office/powerpoint/2010/main" val="1071313405"/>
      </p:ext>
    </p:extLst>
  </p:cSld>
</p:sld>
</file>

<file path=ppt/slides/slide2.xml><?xml version="1.0" encoding="utf-8"?>
<p:sld xmlns:p="http://schemas.openxmlformats.org/presentationml/2006/main">
  <p:cSld>
    <p:bg>
      <p:bgPr>
        <a:solidFill xmlns:a="http://schemas.openxmlformats.org/drawingml/2006/main">
          <a:srgbClr val="0C1424"/>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E5F8FDCD-AC74-46A9-9A80-BE817E02937C}"/>
              </a:ext>
            </a:extLst>
          </p:cNvPr>
          <p:cNvSpPr>
            <a:spLocks xmlns:a="http://schemas.openxmlformats.org/drawingml/2006/main" noGrp="1"/>
          </p:cNvSpPr>
          <p:nvPr/>
        </p:nvSpPr>
        <p:spPr>
          <a:xfrm xmlns:a="http://schemas.openxmlformats.org/drawingml/2006/main">
            <a:off x="685800" y="571500"/>
            <a:ext cx="10820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0F4F9"/>
                </a:solidFill>
                <a:latin typeface="Segoe UI"/>
                <a:ea typeface="Segoe UI"/>
                <a:cs typeface="Segoe UI"/>
              </a:defRPr>
            </a:pPr>
            <a:r>
              <a:rPr sz="3450" b="1">
                <a:solidFill>
                  <a:srgbClr val="F0F4F9"/>
                </a:solidFill>
                <a:latin typeface="Segoe UI"/>
                <a:ea typeface="Segoe UI"/>
                <a:cs typeface="Segoe UI"/>
              </a:rPr>
              <a:t>Trzy oferty bez zgodnej pary</a:t>
            </a:r>
          </a:p>
        </p:txBody>
      </p:sp>
      <p:sp>
        <p:nvSpPr>
          <p:cNvPr id="2" name="text-2">
            <a:extLst xmlns:a="http://schemas.openxmlformats.org/drawingml/2006/main">
              <a:ext uri="{FF2B5EF4-FFF2-40B4-BE49-F238E27FC236}">
                <a16:creationId xmlns:a16="http://schemas.microsoft.com/office/drawing/2014/main" id="{C20EFADD-AE1D-4917-BF76-B892C509BDCD}"/>
              </a:ext>
            </a:extLst>
          </p:cNvPr>
          <p:cNvSpPr>
            <a:spLocks xmlns:a="http://schemas.openxmlformats.org/drawingml/2006/main" noGrp="1"/>
          </p:cNvSpPr>
          <p:nvPr/>
        </p:nvSpPr>
        <p:spPr>
          <a:xfrm xmlns:a="http://schemas.openxmlformats.org/drawingml/2006/main">
            <a:off x="685800" y="6324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SwapCircle</a:t>
            </a:r>
          </a:p>
        </p:txBody>
      </p:sp>
      <p:sp>
        <p:nvSpPr>
          <p:cNvPr id="3" name="text-3">
            <a:extLst xmlns:a="http://schemas.openxmlformats.org/drawingml/2006/main">
              <a:ext uri="{FF2B5EF4-FFF2-40B4-BE49-F238E27FC236}">
                <a16:creationId xmlns:a16="http://schemas.microsoft.com/office/drawing/2014/main" id="{E6529B09-7575-4E00-B25F-89455EF417E6}"/>
              </a:ext>
            </a:extLst>
          </p:cNvPr>
          <p:cNvSpPr>
            <a:spLocks xmlns:a="http://schemas.openxmlformats.org/drawingml/2006/main" noGrp="1"/>
          </p:cNvSpPr>
          <p:nvPr/>
        </p:nvSpPr>
        <p:spPr>
          <a:xfrm xmlns:a="http://schemas.openxmlformats.org/drawingml/2006/main">
            <a:off x="10820400" y="632460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2 / 9</a:t>
            </a:r>
          </a:p>
        </p:txBody>
      </p:sp>
      <p:sp>
        <p:nvSpPr>
          <p:cNvPr id="4" name="text-4">
            <a:extLst xmlns:a="http://schemas.openxmlformats.org/drawingml/2006/main">
              <a:ext uri="{FF2B5EF4-FFF2-40B4-BE49-F238E27FC236}">
                <a16:creationId xmlns:a16="http://schemas.microsoft.com/office/drawing/2014/main" id="{8405BAFD-35B8-4E79-87A9-765BBCD81F2D}"/>
              </a:ext>
            </a:extLst>
          </p:cNvPr>
          <p:cNvSpPr>
            <a:spLocks xmlns:a="http://schemas.openxmlformats.org/drawingml/2006/main" noGrp="1"/>
          </p:cNvSpPr>
          <p:nvPr/>
        </p:nvSpPr>
        <p:spPr>
          <a:xfrm xmlns:a="http://schemas.openxmlformats.org/drawingml/2006/main">
            <a:off x="2324100" y="63246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Demo. Tokeny dX, dY i dZ nie mają wartości pieniężnej.</a:t>
            </a:r>
          </a:p>
        </p:txBody>
      </p:sp>
      <p:graphicFrame>
        <p:nvGraphicFramePr>
          <p:cNvPr id="11" name=""/>
          <p:cNvGraphicFramePr/>
          <p:nvPr/>
        </p:nvGraphicFramePr>
        <p:xfrm>
          <a:off xmlns:a="http://schemas.openxmlformats.org/drawingml/2006/main" x="685800" y="1990725"/>
          <a:ext xmlns:a="http://schemas.openxmlformats.org/drawingml/2006/main" cx="10820400" cy="2781300"/>
        </p:xfrm>
        <a:graphic xmlns:a="http://schemas.openxmlformats.org/drawingml/2006/main">
          <a:graphicData uri="http://schemas.openxmlformats.org/drawingml/2006/table">
            <a:tbl>
              <a:tblPr firstRow="0" bandRow="0"/>
              <a:tblGrid>
                <a:gridCol w="3619500"/>
                <a:gridCol w="3619500"/>
                <a:gridCol w="3581400"/>
              </a:tblGrid>
              <a:tr h="695325">
                <a:tc>
                  <a:txBody>
                    <a:bodyPr/>
                    <a:lstStyle/>
                    <a:p>
                      <a:r>
                        <a:rPr sz="1875" b="1">
                          <a:solidFill>
                            <a:srgbClr val="B8EF6C"/>
                          </a:solidFill>
                          <a:latin typeface="Segoe UI"/>
                          <a:ea typeface="Segoe UI"/>
                          <a:cs typeface="Segoe UI"/>
                        </a:rPr>
                        <a:t>Osoba</a:t>
                      </a:r>
                    </a:p>
                  </a:txBody>
                  <a:tcPr marL="0" marR="171450" marT="133350" marB="114300" anchor="ctr">
                    <a:solidFill>
                      <a:srgbClr val="0C1424"/>
                    </a:solidFill>
                  </a:tcPr>
                </a:tc>
                <a:tc>
                  <a:txBody>
                    <a:bodyPr/>
                    <a:lstStyle/>
                    <a:p>
                      <a:r>
                        <a:rPr sz="1875" b="1">
                          <a:solidFill>
                            <a:srgbClr val="B8EF6C"/>
                          </a:solidFill>
                          <a:latin typeface="Segoe UI"/>
                          <a:ea typeface="Segoe UI"/>
                          <a:cs typeface="Segoe UI"/>
                        </a:rPr>
                        <a:t>Oddaje</a:t>
                      </a:r>
                    </a:p>
                  </a:txBody>
                  <a:tcPr marL="0" marR="171450" marT="133350" marB="114300" anchor="ctr">
                    <a:solidFill>
                      <a:srgbClr val="0C1424"/>
                    </a:solidFill>
                  </a:tcPr>
                </a:tc>
                <a:tc>
                  <a:txBody>
                    <a:bodyPr/>
                    <a:lstStyle/>
                    <a:p>
                      <a:r>
                        <a:rPr sz="1875" b="1">
                          <a:solidFill>
                            <a:srgbClr val="B8EF6C"/>
                          </a:solidFill>
                          <a:latin typeface="Segoe UI"/>
                          <a:ea typeface="Segoe UI"/>
                          <a:cs typeface="Segoe UI"/>
                        </a:rPr>
                        <a:t>Chce otrzymać</a:t>
                      </a:r>
                    </a:p>
                  </a:txBody>
                  <a:tcPr marL="0" marR="171450" marT="133350" marB="114300" anchor="ctr">
                    <a:solidFill>
                      <a:srgbClr val="0C1424"/>
                    </a:solidFill>
                  </a:tcPr>
                </a:tc>
              </a:tr>
              <a:tr h="695325">
                <a:tc>
                  <a:txBody>
                    <a:bodyPr/>
                    <a:lstStyle/>
                    <a:p>
                      <a:r>
                        <a:rPr sz="2700">
                          <a:solidFill>
                            <a:srgbClr val="F0F4F9"/>
                          </a:solidFill>
                          <a:latin typeface="Segoe UI"/>
                          <a:ea typeface="Segoe UI"/>
                          <a:cs typeface="Segoe UI"/>
                        </a:rPr>
                        <a:t>Alicja</a:t>
                      </a:r>
                    </a:p>
                  </a:txBody>
                  <a:tcPr marL="0" marR="171450" marT="133350" marB="114300" anchor="ctr">
                    <a:solidFill>
                      <a:srgbClr val="0C1424"/>
                    </a:solidFill>
                  </a:tcPr>
                </a:tc>
                <a:tc>
                  <a:txBody>
                    <a:bodyPr/>
                    <a:lstStyle/>
                    <a:p>
                      <a:r>
                        <a:rPr sz="2700">
                          <a:solidFill>
                            <a:srgbClr val="F0F4F9"/>
                          </a:solidFill>
                          <a:latin typeface="Segoe UI"/>
                          <a:ea typeface="Segoe UI"/>
                          <a:cs typeface="Segoe UI"/>
                        </a:rPr>
                        <a:t>100 dX</a:t>
                      </a:r>
                    </a:p>
                  </a:txBody>
                  <a:tcPr marL="0" marR="171450" marT="133350" marB="114300" anchor="ctr">
                    <a:solidFill>
                      <a:srgbClr val="0C1424"/>
                    </a:solidFill>
                  </a:tcPr>
                </a:tc>
                <a:tc>
                  <a:txBody>
                    <a:bodyPr/>
                    <a:lstStyle/>
                    <a:p>
                      <a:r>
                        <a:rPr sz="2700">
                          <a:solidFill>
                            <a:srgbClr val="F0F4F9"/>
                          </a:solidFill>
                          <a:latin typeface="Segoe UI"/>
                          <a:ea typeface="Segoe UI"/>
                          <a:cs typeface="Segoe UI"/>
                        </a:rPr>
                        <a:t>40 dY</a:t>
                      </a:r>
                    </a:p>
                  </a:txBody>
                  <a:tcPr marL="0" marR="171450" marT="133350" marB="114300" anchor="ctr">
                    <a:solidFill>
                      <a:srgbClr val="0C1424"/>
                    </a:solidFill>
                  </a:tcPr>
                </a:tc>
              </a:tr>
              <a:tr h="695325">
                <a:tc>
                  <a:txBody>
                    <a:bodyPr/>
                    <a:lstStyle/>
                    <a:p>
                      <a:r>
                        <a:rPr sz="2700">
                          <a:solidFill>
                            <a:srgbClr val="F0F4F9"/>
                          </a:solidFill>
                          <a:latin typeface="Segoe UI"/>
                          <a:ea typeface="Segoe UI"/>
                          <a:cs typeface="Segoe UI"/>
                        </a:rPr>
                        <a:t>Bartek</a:t>
                      </a:r>
                    </a:p>
                  </a:txBody>
                  <a:tcPr marL="0" marR="171450" marT="133350" marB="114300" anchor="ctr">
                    <a:solidFill>
                      <a:srgbClr val="0C1424"/>
                    </a:solidFill>
                  </a:tcPr>
                </a:tc>
                <a:tc>
                  <a:txBody>
                    <a:bodyPr/>
                    <a:lstStyle/>
                    <a:p>
                      <a:r>
                        <a:rPr sz="2700">
                          <a:solidFill>
                            <a:srgbClr val="F0F4F9"/>
                          </a:solidFill>
                          <a:latin typeface="Segoe UI"/>
                          <a:ea typeface="Segoe UI"/>
                          <a:cs typeface="Segoe UI"/>
                        </a:rPr>
                        <a:t>40 dY</a:t>
                      </a:r>
                    </a:p>
                  </a:txBody>
                  <a:tcPr marL="0" marR="171450" marT="133350" marB="114300" anchor="ctr">
                    <a:solidFill>
                      <a:srgbClr val="0C1424"/>
                    </a:solidFill>
                  </a:tcPr>
                </a:tc>
                <a:tc>
                  <a:txBody>
                    <a:bodyPr/>
                    <a:lstStyle/>
                    <a:p>
                      <a:r>
                        <a:rPr sz="2700">
                          <a:solidFill>
                            <a:srgbClr val="F0F4F9"/>
                          </a:solidFill>
                          <a:latin typeface="Segoe UI"/>
                          <a:ea typeface="Segoe UI"/>
                          <a:cs typeface="Segoe UI"/>
                        </a:rPr>
                        <a:t>250 dZ</a:t>
                      </a:r>
                    </a:p>
                  </a:txBody>
                  <a:tcPr marL="0" marR="171450" marT="133350" marB="114300" anchor="ctr">
                    <a:solidFill>
                      <a:srgbClr val="0C1424"/>
                    </a:solidFill>
                  </a:tcPr>
                </a:tc>
              </a:tr>
              <a:tr h="695325">
                <a:tc>
                  <a:txBody>
                    <a:bodyPr/>
                    <a:lstStyle/>
                    <a:p>
                      <a:r>
                        <a:rPr sz="2700">
                          <a:solidFill>
                            <a:srgbClr val="F0F4F9"/>
                          </a:solidFill>
                          <a:latin typeface="Segoe UI"/>
                          <a:ea typeface="Segoe UI"/>
                          <a:cs typeface="Segoe UI"/>
                        </a:rPr>
                        <a:t>Celina</a:t>
                      </a:r>
                    </a:p>
                  </a:txBody>
                  <a:tcPr marL="0" marR="171450" marT="133350" marB="114300" anchor="ctr">
                    <a:solidFill>
                      <a:srgbClr val="0C1424"/>
                    </a:solidFill>
                  </a:tcPr>
                </a:tc>
                <a:tc>
                  <a:txBody>
                    <a:bodyPr/>
                    <a:lstStyle/>
                    <a:p>
                      <a:r>
                        <a:rPr sz="2700">
                          <a:solidFill>
                            <a:srgbClr val="F0F4F9"/>
                          </a:solidFill>
                          <a:latin typeface="Segoe UI"/>
                          <a:ea typeface="Segoe UI"/>
                          <a:cs typeface="Segoe UI"/>
                        </a:rPr>
                        <a:t>250 dZ</a:t>
                      </a:r>
                    </a:p>
                  </a:txBody>
                  <a:tcPr marL="0" marR="171450" marT="133350" marB="114300" anchor="ctr">
                    <a:solidFill>
                      <a:srgbClr val="0C1424"/>
                    </a:solidFill>
                  </a:tcPr>
                </a:tc>
                <a:tc>
                  <a:txBody>
                    <a:bodyPr/>
                    <a:lstStyle/>
                    <a:p>
                      <a:r>
                        <a:rPr sz="2700">
                          <a:solidFill>
                            <a:srgbClr val="F0F4F9"/>
                          </a:solidFill>
                          <a:latin typeface="Segoe UI"/>
                          <a:ea typeface="Segoe UI"/>
                          <a:cs typeface="Segoe UI"/>
                        </a:rPr>
                        <a:t>100 dX</a:t>
                      </a:r>
                    </a:p>
                  </a:txBody>
                  <a:tcPr marL="0" marR="171450" marT="133350" marB="114300" anchor="ctr">
                    <a:solidFill>
                      <a:srgbClr val="0C1424"/>
                    </a:solidFill>
                  </a:tcPr>
                </a:tc>
              </a:tr>
            </a:tbl>
          </a:graphicData>
        </a:graphic>
      </p:graphicFrame>
      <p:sp>
        <p:nvSpPr>
          <p:cNvPr id="6" name="text-5">
            <a:extLst xmlns:a="http://schemas.openxmlformats.org/drawingml/2006/main">
              <a:ext uri="{FF2B5EF4-FFF2-40B4-BE49-F238E27FC236}">
                <a16:creationId xmlns:a16="http://schemas.microsoft.com/office/drawing/2014/main" id="{4409530E-AC70-449D-AEE8-93D4213B4426}"/>
              </a:ext>
            </a:extLst>
          </p:cNvPr>
          <p:cNvSpPr>
            <a:spLocks xmlns:a="http://schemas.openxmlformats.org/drawingml/2006/main" noGrp="1"/>
          </p:cNvSpPr>
          <p:nvPr/>
        </p:nvSpPr>
        <p:spPr>
          <a:xfrm xmlns:a="http://schemas.openxmlformats.org/drawingml/2006/main">
            <a:off x="685800" y="52197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F0F4F9"/>
                </a:solidFill>
                <a:latin typeface="Segoe UI"/>
                <a:ea typeface="Segoe UI"/>
                <a:cs typeface="Segoe UI"/>
              </a:defRPr>
            </a:pPr>
            <a:r>
              <a:rPr sz="2700" b="1">
                <a:solidFill>
                  <a:srgbClr val="F0F4F9"/>
                </a:solidFill>
                <a:latin typeface="Segoe UI"/>
                <a:ea typeface="Segoe UI"/>
                <a:cs typeface="Segoe UI"/>
              </a:rPr>
              <a:t>W grupie są wszystkie potrzebne tokeny.</a:t>
            </a:r>
          </a:p>
        </p:txBody>
      </p:sp>
    </p:spTree>
    <p:extLst>
      <p:ext uri="{BB962C8B-B14F-4D97-AF65-F5344CB8AC3E}">
        <p14:creationId xmlns:p14="http://schemas.microsoft.com/office/powerpoint/2010/main" val="865621172"/>
      </p:ext>
    </p:extLst>
  </p:cSld>
</p:sld>
</file>

<file path=ppt/slides/slide3.xml><?xml version="1.0" encoding="utf-8"?>
<p:sld xmlns:p="http://schemas.openxmlformats.org/presentationml/2006/main">
  <p:cSld>
    <p:bg>
      <p:bgPr>
        <a:solidFill xmlns:a="http://schemas.openxmlformats.org/drawingml/2006/main">
          <a:srgbClr val="0C1424"/>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19EF2AE1-4736-42EB-8847-E1A7925612C4}"/>
              </a:ext>
            </a:extLst>
          </p:cNvPr>
          <p:cNvSpPr>
            <a:spLocks xmlns:a="http://schemas.openxmlformats.org/drawingml/2006/main" noGrp="1"/>
          </p:cNvSpPr>
          <p:nvPr/>
        </p:nvSpPr>
        <p:spPr>
          <a:xfrm xmlns:a="http://schemas.openxmlformats.org/drawingml/2006/main">
            <a:off x="685800" y="571500"/>
            <a:ext cx="10820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0F4F9"/>
                </a:solidFill>
                <a:latin typeface="Segoe UI"/>
                <a:ea typeface="Segoe UI"/>
                <a:cs typeface="Segoe UI"/>
              </a:defRPr>
            </a:pPr>
            <a:r>
              <a:rPr sz="3450" b="1">
                <a:solidFill>
                  <a:srgbClr val="F0F4F9"/>
                </a:solidFill>
                <a:latin typeface="Segoe UI"/>
                <a:ea typeface="Segoe UI"/>
                <a:cs typeface="Segoe UI"/>
              </a:rPr>
              <a:t>Krąg łączy wszystkie potrzeby</a:t>
            </a:r>
          </a:p>
        </p:txBody>
      </p:sp>
      <p:sp>
        <p:nvSpPr>
          <p:cNvPr id="2" name="text-2">
            <a:extLst xmlns:a="http://schemas.openxmlformats.org/drawingml/2006/main">
              <a:ext uri="{FF2B5EF4-FFF2-40B4-BE49-F238E27FC236}">
                <a16:creationId xmlns:a16="http://schemas.microsoft.com/office/drawing/2014/main" id="{5A48BF3E-F69F-40B0-8F2E-8279D0D7F603}"/>
              </a:ext>
            </a:extLst>
          </p:cNvPr>
          <p:cNvSpPr>
            <a:spLocks xmlns:a="http://schemas.openxmlformats.org/drawingml/2006/main" noGrp="1"/>
          </p:cNvSpPr>
          <p:nvPr/>
        </p:nvSpPr>
        <p:spPr>
          <a:xfrm xmlns:a="http://schemas.openxmlformats.org/drawingml/2006/main">
            <a:off x="685800" y="6324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SwapCircle</a:t>
            </a:r>
          </a:p>
        </p:txBody>
      </p:sp>
      <p:sp>
        <p:nvSpPr>
          <p:cNvPr id="3" name="text-3">
            <a:extLst xmlns:a="http://schemas.openxmlformats.org/drawingml/2006/main">
              <a:ext uri="{FF2B5EF4-FFF2-40B4-BE49-F238E27FC236}">
                <a16:creationId xmlns:a16="http://schemas.microsoft.com/office/drawing/2014/main" id="{3C58FBA7-2DA2-4221-97A5-B9BFCE43E00A}"/>
              </a:ext>
            </a:extLst>
          </p:cNvPr>
          <p:cNvSpPr>
            <a:spLocks xmlns:a="http://schemas.openxmlformats.org/drawingml/2006/main" noGrp="1"/>
          </p:cNvSpPr>
          <p:nvPr/>
        </p:nvSpPr>
        <p:spPr>
          <a:xfrm xmlns:a="http://schemas.openxmlformats.org/drawingml/2006/main">
            <a:off x="10820400" y="632460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3 / 9</a:t>
            </a:r>
          </a:p>
        </p:txBody>
      </p:sp>
      <p:sp>
        <p:nvSpPr>
          <p:cNvPr id="4" name="text-4">
            <a:extLst xmlns:a="http://schemas.openxmlformats.org/drawingml/2006/main">
              <a:ext uri="{FF2B5EF4-FFF2-40B4-BE49-F238E27FC236}">
                <a16:creationId xmlns:a16="http://schemas.microsoft.com/office/drawing/2014/main" id="{AAE7D652-450A-4A38-92C0-7A7AB66BAE41}"/>
              </a:ext>
            </a:extLst>
          </p:cNvPr>
          <p:cNvSpPr>
            <a:spLocks xmlns:a="http://schemas.openxmlformats.org/drawingml/2006/main" noGrp="1"/>
          </p:cNvSpPr>
          <p:nvPr/>
        </p:nvSpPr>
        <p:spPr>
          <a:xfrm xmlns:a="http://schemas.openxmlformats.org/drawingml/2006/main">
            <a:off x="2324100" y="63246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Demo. Tokeny dX, dY i dZ nie mają wartości pieniężnej.</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e35ed106b1e4e0e"/>
          <a:srcRect xmlns:a="http://schemas.openxmlformats.org/drawingml/2006/main" l="23117" t="0" r="23117" b="0"/>
          <a:stretch xmlns:a="http://schemas.openxmlformats.org/drawingml/2006/main">
            <a:fillRect l="0" t="0" r="0" b="0"/>
          </a:stretch>
        </p:blipFill>
        <p:spPr>
          <a:xfrm xmlns:a="http://schemas.openxmlformats.org/drawingml/2006/main">
            <a:off x="4667250" y="2171700"/>
            <a:ext cx="6838950" cy="3324225"/>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856ACD93-E2BC-4885-B80E-63FCE7C99CEE}"/>
              </a:ext>
            </a:extLst>
          </p:cNvPr>
          <p:cNvSpPr>
            <a:spLocks xmlns:a="http://schemas.openxmlformats.org/drawingml/2006/main" noGrp="1"/>
          </p:cNvSpPr>
          <p:nvPr/>
        </p:nvSpPr>
        <p:spPr>
          <a:xfrm xmlns:a="http://schemas.openxmlformats.org/drawingml/2006/main">
            <a:off x="685800" y="2000250"/>
            <a:ext cx="361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75" b="1">
                <a:solidFill>
                  <a:srgbClr val="B8EF6C"/>
                </a:solidFill>
                <a:latin typeface="Segoe UI"/>
                <a:ea typeface="Segoe UI"/>
                <a:cs typeface="Segoe UI"/>
              </a:defRPr>
            </a:pPr>
            <a:r>
              <a:rPr sz="3975" b="1">
                <a:solidFill>
                  <a:srgbClr val="B8EF6C"/>
                </a:solidFill>
                <a:latin typeface="Segoe UI"/>
                <a:ea typeface="Segoe UI"/>
                <a:cs typeface="Segoe UI"/>
              </a:rPr>
              <a:t>100 dX</a:t>
            </a:r>
          </a:p>
        </p:txBody>
      </p:sp>
      <p:sp>
        <p:nvSpPr>
          <p:cNvPr id="7" name="text-6">
            <a:extLst xmlns:a="http://schemas.openxmlformats.org/drawingml/2006/main">
              <a:ext uri="{FF2B5EF4-FFF2-40B4-BE49-F238E27FC236}">
                <a16:creationId xmlns:a16="http://schemas.microsoft.com/office/drawing/2014/main" id="{C0A2F8E4-465A-42B9-BA99-D98E06ACBFFC}"/>
              </a:ext>
            </a:extLst>
          </p:cNvPr>
          <p:cNvSpPr>
            <a:spLocks xmlns:a="http://schemas.openxmlformats.org/drawingml/2006/main" noGrp="1"/>
          </p:cNvSpPr>
          <p:nvPr/>
        </p:nvSpPr>
        <p:spPr>
          <a:xfrm xmlns:a="http://schemas.openxmlformats.org/drawingml/2006/main">
            <a:off x="685800" y="2676525"/>
            <a:ext cx="376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0F4F9"/>
                </a:solidFill>
                <a:latin typeface="Segoe UI"/>
                <a:ea typeface="Segoe UI"/>
                <a:cs typeface="Segoe UI"/>
              </a:defRPr>
            </a:pPr>
            <a:r>
              <a:rPr sz="1875" b="0">
                <a:solidFill>
                  <a:srgbClr val="F0F4F9"/>
                </a:solidFill>
                <a:latin typeface="Segoe UI"/>
                <a:ea typeface="Segoe UI"/>
                <a:cs typeface="Segoe UI"/>
              </a:rPr>
              <a:t>Alicja przekazuje Celinie</a:t>
            </a:r>
          </a:p>
        </p:txBody>
      </p:sp>
      <p:sp>
        <p:nvSpPr>
          <p:cNvPr id="8" name="text-7">
            <a:extLst xmlns:a="http://schemas.openxmlformats.org/drawingml/2006/main">
              <a:ext uri="{FF2B5EF4-FFF2-40B4-BE49-F238E27FC236}">
                <a16:creationId xmlns:a16="http://schemas.microsoft.com/office/drawing/2014/main" id="{F07609FD-A109-46BA-BB04-0E50E367E41E}"/>
              </a:ext>
            </a:extLst>
          </p:cNvPr>
          <p:cNvSpPr>
            <a:spLocks xmlns:a="http://schemas.openxmlformats.org/drawingml/2006/main" noGrp="1"/>
          </p:cNvSpPr>
          <p:nvPr/>
        </p:nvSpPr>
        <p:spPr>
          <a:xfrm xmlns:a="http://schemas.openxmlformats.org/drawingml/2006/main">
            <a:off x="685800" y="3333750"/>
            <a:ext cx="361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75" b="1">
                <a:solidFill>
                  <a:srgbClr val="B8EF6C"/>
                </a:solidFill>
                <a:latin typeface="Segoe UI"/>
                <a:ea typeface="Segoe UI"/>
                <a:cs typeface="Segoe UI"/>
              </a:defRPr>
            </a:pPr>
            <a:r>
              <a:rPr sz="3975" b="1">
                <a:solidFill>
                  <a:srgbClr val="B8EF6C"/>
                </a:solidFill>
                <a:latin typeface="Segoe UI"/>
                <a:ea typeface="Segoe UI"/>
                <a:cs typeface="Segoe UI"/>
              </a:rPr>
              <a:t>250 dZ</a:t>
            </a:r>
          </a:p>
        </p:txBody>
      </p:sp>
      <p:sp>
        <p:nvSpPr>
          <p:cNvPr id="9" name="text-8">
            <a:extLst xmlns:a="http://schemas.openxmlformats.org/drawingml/2006/main">
              <a:ext uri="{FF2B5EF4-FFF2-40B4-BE49-F238E27FC236}">
                <a16:creationId xmlns:a16="http://schemas.microsoft.com/office/drawing/2014/main" id="{4890898C-71F9-4051-A6BF-219EF10DDE74}"/>
              </a:ext>
            </a:extLst>
          </p:cNvPr>
          <p:cNvSpPr>
            <a:spLocks xmlns:a="http://schemas.openxmlformats.org/drawingml/2006/main" noGrp="1"/>
          </p:cNvSpPr>
          <p:nvPr/>
        </p:nvSpPr>
        <p:spPr>
          <a:xfrm xmlns:a="http://schemas.openxmlformats.org/drawingml/2006/main">
            <a:off x="685800" y="4010025"/>
            <a:ext cx="3857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0F4F9"/>
                </a:solidFill>
                <a:latin typeface="Segoe UI"/>
                <a:ea typeface="Segoe UI"/>
                <a:cs typeface="Segoe UI"/>
              </a:defRPr>
            </a:pPr>
            <a:r>
              <a:rPr sz="1875" b="0">
                <a:solidFill>
                  <a:srgbClr val="F0F4F9"/>
                </a:solidFill>
                <a:latin typeface="Segoe UI"/>
                <a:ea typeface="Segoe UI"/>
                <a:cs typeface="Segoe UI"/>
              </a:rPr>
              <a:t>Celina przekazuje Bartkowi</a:t>
            </a:r>
          </a:p>
        </p:txBody>
      </p:sp>
      <p:sp>
        <p:nvSpPr>
          <p:cNvPr id="10" name="text-9">
            <a:extLst xmlns:a="http://schemas.openxmlformats.org/drawingml/2006/main">
              <a:ext uri="{FF2B5EF4-FFF2-40B4-BE49-F238E27FC236}">
                <a16:creationId xmlns:a16="http://schemas.microsoft.com/office/drawing/2014/main" id="{C31C9D00-9C53-4441-B34E-7BFB3FA25EA9}"/>
              </a:ext>
            </a:extLst>
          </p:cNvPr>
          <p:cNvSpPr>
            <a:spLocks xmlns:a="http://schemas.openxmlformats.org/drawingml/2006/main" noGrp="1"/>
          </p:cNvSpPr>
          <p:nvPr/>
        </p:nvSpPr>
        <p:spPr>
          <a:xfrm xmlns:a="http://schemas.openxmlformats.org/drawingml/2006/main">
            <a:off x="685800" y="4667250"/>
            <a:ext cx="361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75" b="1">
                <a:solidFill>
                  <a:srgbClr val="B8EF6C"/>
                </a:solidFill>
                <a:latin typeface="Segoe UI"/>
                <a:ea typeface="Segoe UI"/>
                <a:cs typeface="Segoe UI"/>
              </a:defRPr>
            </a:pPr>
            <a:r>
              <a:rPr sz="3975" b="1">
                <a:solidFill>
                  <a:srgbClr val="B8EF6C"/>
                </a:solidFill>
                <a:latin typeface="Segoe UI"/>
                <a:ea typeface="Segoe UI"/>
                <a:cs typeface="Segoe UI"/>
              </a:rPr>
              <a:t>40 dY</a:t>
            </a:r>
          </a:p>
        </p:txBody>
      </p:sp>
      <p:sp>
        <p:nvSpPr>
          <p:cNvPr id="11" name="text-10">
            <a:extLst xmlns:a="http://schemas.openxmlformats.org/drawingml/2006/main">
              <a:ext uri="{FF2B5EF4-FFF2-40B4-BE49-F238E27FC236}">
                <a16:creationId xmlns:a16="http://schemas.microsoft.com/office/drawing/2014/main" id="{4CCBA0FD-B5A2-4D5C-864E-8CA9CF03E9E3}"/>
              </a:ext>
            </a:extLst>
          </p:cNvPr>
          <p:cNvSpPr>
            <a:spLocks xmlns:a="http://schemas.openxmlformats.org/drawingml/2006/main" noGrp="1"/>
          </p:cNvSpPr>
          <p:nvPr/>
        </p:nvSpPr>
        <p:spPr>
          <a:xfrm xmlns:a="http://schemas.openxmlformats.org/drawingml/2006/main">
            <a:off x="685800" y="5343525"/>
            <a:ext cx="376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0F4F9"/>
                </a:solidFill>
                <a:latin typeface="Segoe UI"/>
                <a:ea typeface="Segoe UI"/>
                <a:cs typeface="Segoe UI"/>
              </a:defRPr>
            </a:pPr>
            <a:r>
              <a:rPr sz="1875" b="0">
                <a:solidFill>
                  <a:srgbClr val="F0F4F9"/>
                </a:solidFill>
                <a:latin typeface="Segoe UI"/>
                <a:ea typeface="Segoe UI"/>
                <a:cs typeface="Segoe UI"/>
              </a:rPr>
              <a:t>Bartek przekazuje Alicji</a:t>
            </a:r>
          </a:p>
        </p:txBody>
      </p:sp>
    </p:spTree>
    <p:extLst>
      <p:ext uri="{BB962C8B-B14F-4D97-AF65-F5344CB8AC3E}">
        <p14:creationId xmlns:p14="http://schemas.microsoft.com/office/powerpoint/2010/main" val="1442808498"/>
      </p:ext>
    </p:extLst>
  </p:cSld>
</p:sld>
</file>

<file path=ppt/slides/slide4.xml><?xml version="1.0" encoding="utf-8"?>
<p:sld xmlns:p="http://schemas.openxmlformats.org/presentationml/2006/main">
  <p:cSld>
    <p:bg>
      <p:bgPr>
        <a:solidFill xmlns:a="http://schemas.openxmlformats.org/drawingml/2006/main">
          <a:srgbClr val="0C1424"/>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95ABB873-6CC7-4B28-9CE8-DBF8B1CB8BD1}"/>
              </a:ext>
            </a:extLst>
          </p:cNvPr>
          <p:cNvSpPr>
            <a:spLocks xmlns:a="http://schemas.openxmlformats.org/drawingml/2006/main" noGrp="1"/>
          </p:cNvSpPr>
          <p:nvPr/>
        </p:nvSpPr>
        <p:spPr>
          <a:xfrm xmlns:a="http://schemas.openxmlformats.org/drawingml/2006/main">
            <a:off x="685800" y="571500"/>
            <a:ext cx="10820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0F4F9"/>
                </a:solidFill>
                <a:latin typeface="Segoe UI"/>
                <a:ea typeface="Segoe UI"/>
                <a:cs typeface="Segoe UI"/>
              </a:defRPr>
            </a:pPr>
            <a:r>
              <a:rPr sz="3450" b="1">
                <a:solidFill>
                  <a:srgbClr val="F0F4F9"/>
                </a:solidFill>
                <a:latin typeface="Segoe UI"/>
                <a:ea typeface="Segoe UI"/>
                <a:cs typeface="Segoe UI"/>
              </a:rPr>
              <a:t>Warunki widoczne przed wpłatą</a:t>
            </a:r>
          </a:p>
        </p:txBody>
      </p:sp>
      <p:sp>
        <p:nvSpPr>
          <p:cNvPr id="2" name="text-2">
            <a:extLst xmlns:a="http://schemas.openxmlformats.org/drawingml/2006/main">
              <a:ext uri="{FF2B5EF4-FFF2-40B4-BE49-F238E27FC236}">
                <a16:creationId xmlns:a16="http://schemas.microsoft.com/office/drawing/2014/main" id="{6949F769-0C86-4E35-9395-89628CD837BE}"/>
              </a:ext>
            </a:extLst>
          </p:cNvPr>
          <p:cNvSpPr>
            <a:spLocks xmlns:a="http://schemas.openxmlformats.org/drawingml/2006/main" noGrp="1"/>
          </p:cNvSpPr>
          <p:nvPr/>
        </p:nvSpPr>
        <p:spPr>
          <a:xfrm xmlns:a="http://schemas.openxmlformats.org/drawingml/2006/main">
            <a:off x="685800" y="6324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SwapCircle</a:t>
            </a:r>
          </a:p>
        </p:txBody>
      </p:sp>
      <p:sp>
        <p:nvSpPr>
          <p:cNvPr id="3" name="text-3">
            <a:extLst xmlns:a="http://schemas.openxmlformats.org/drawingml/2006/main">
              <a:ext uri="{FF2B5EF4-FFF2-40B4-BE49-F238E27FC236}">
                <a16:creationId xmlns:a16="http://schemas.microsoft.com/office/drawing/2014/main" id="{82F1658F-F05A-4146-8411-883A1532EB21}"/>
              </a:ext>
            </a:extLst>
          </p:cNvPr>
          <p:cNvSpPr>
            <a:spLocks xmlns:a="http://schemas.openxmlformats.org/drawingml/2006/main" noGrp="1"/>
          </p:cNvSpPr>
          <p:nvPr/>
        </p:nvSpPr>
        <p:spPr>
          <a:xfrm xmlns:a="http://schemas.openxmlformats.org/drawingml/2006/main">
            <a:off x="10820400" y="632460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4 / 9</a:t>
            </a:r>
          </a:p>
        </p:txBody>
      </p:sp>
      <p:sp>
        <p:nvSpPr>
          <p:cNvPr id="4" name="text-4">
            <a:extLst xmlns:a="http://schemas.openxmlformats.org/drawingml/2006/main">
              <a:ext uri="{FF2B5EF4-FFF2-40B4-BE49-F238E27FC236}">
                <a16:creationId xmlns:a16="http://schemas.microsoft.com/office/drawing/2014/main" id="{809DCBE7-4491-4B9A-BD23-B4EA745CA92B}"/>
              </a:ext>
            </a:extLst>
          </p:cNvPr>
          <p:cNvSpPr>
            <a:spLocks xmlns:a="http://schemas.openxmlformats.org/drawingml/2006/main" noGrp="1"/>
          </p:cNvSpPr>
          <p:nvPr/>
        </p:nvSpPr>
        <p:spPr>
          <a:xfrm xmlns:a="http://schemas.openxmlformats.org/drawingml/2006/main">
            <a:off x="2324100" y="63246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Demo. Tokeny dX, dY i dZ nie mają wartości pieniężnej.</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8bc93fa2d34441b"/>
          <a:stretch xmlns:a="http://schemas.openxmlformats.org/drawingml/2006/main"/>
        </p:blipFill>
        <p:spPr>
          <a:xfrm xmlns:a="http://schemas.openxmlformats.org/drawingml/2006/main">
            <a:off x="6518077" y="1600200"/>
            <a:ext cx="4708922" cy="4305300"/>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DAB5E07D-4066-4284-9D91-479D24355A6E}"/>
              </a:ext>
            </a:extLst>
          </p:cNvPr>
          <p:cNvSpPr>
            <a:spLocks xmlns:a="http://schemas.openxmlformats.org/drawingml/2006/main" noGrp="1"/>
          </p:cNvSpPr>
          <p:nvPr/>
        </p:nvSpPr>
        <p:spPr>
          <a:xfrm xmlns:a="http://schemas.openxmlformats.org/drawingml/2006/main">
            <a:off x="685800" y="2190750"/>
            <a:ext cx="5143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F0F4F9"/>
                </a:solidFill>
                <a:latin typeface="Segoe UI"/>
                <a:ea typeface="Segoe UI"/>
                <a:cs typeface="Segoe UI"/>
              </a:defRPr>
            </a:pPr>
            <a:r>
              <a:rPr sz="2925" b="1">
                <a:solidFill>
                  <a:srgbClr val="F0F4F9"/>
                </a:solidFill>
                <a:latin typeface="Segoe UI"/>
                <a:ea typeface="Segoe UI"/>
                <a:cs typeface="Segoe UI"/>
              </a:rPr>
              <a:t>Wiesz, co oddajesz</a:t>
            </a:r>
          </a:p>
          <a:p xmlns:a="http://schemas.openxmlformats.org/drawingml/2006/main">
            <a:pPr>
              <a:defRPr sz="2925" b="1">
                <a:solidFill>
                  <a:srgbClr val="F0F4F9"/>
                </a:solidFill>
                <a:latin typeface="Segoe UI"/>
                <a:ea typeface="Segoe UI"/>
                <a:cs typeface="Segoe UI"/>
              </a:defRPr>
            </a:pPr>
            <a:r>
              <a:rPr sz="2925" b="1">
                <a:solidFill>
                  <a:srgbClr val="F0F4F9"/>
                </a:solidFill>
                <a:latin typeface="Segoe UI"/>
                <a:ea typeface="Segoe UI"/>
                <a:cs typeface="Segoe UI"/>
              </a:rPr>
              <a:t>i co otrzymasz.</a:t>
            </a:r>
          </a:p>
        </p:txBody>
      </p:sp>
      <p:sp>
        <p:nvSpPr>
          <p:cNvPr id="7" name="text-6">
            <a:extLst xmlns:a="http://schemas.openxmlformats.org/drawingml/2006/main">
              <a:ext uri="{FF2B5EF4-FFF2-40B4-BE49-F238E27FC236}">
                <a16:creationId xmlns:a16="http://schemas.microsoft.com/office/drawing/2014/main" id="{D05D49B8-7A77-4B9A-A526-A6C164C0F070}"/>
              </a:ext>
            </a:extLst>
          </p:cNvPr>
          <p:cNvSpPr>
            <a:spLocks xmlns:a="http://schemas.openxmlformats.org/drawingml/2006/main" noGrp="1"/>
          </p:cNvSpPr>
          <p:nvPr/>
        </p:nvSpPr>
        <p:spPr>
          <a:xfrm xmlns:a="http://schemas.openxmlformats.org/drawingml/2006/main">
            <a:off x="685800" y="3676650"/>
            <a:ext cx="5143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ABB9CE"/>
                </a:solidFill>
                <a:latin typeface="Segoe UI"/>
                <a:ea typeface="Segoe UI"/>
                <a:cs typeface="Segoe UI"/>
              </a:defRPr>
            </a:pPr>
            <a:r>
              <a:rPr sz="2175" b="0">
                <a:solidFill>
                  <a:srgbClr val="ABB9CE"/>
                </a:solidFill>
                <a:latin typeface="Segoe UI"/>
                <a:ea typeface="Segoe UI"/>
                <a:cs typeface="Segoe UI"/>
              </a:rPr>
              <a:t>Termin określa, jak długo</a:t>
            </a:r>
          </a:p>
          <a:p xmlns:a="http://schemas.openxmlformats.org/drawingml/2006/main">
            <a:pPr>
              <a:defRPr sz="2175" b="0">
                <a:solidFill>
                  <a:srgbClr val="ABB9CE"/>
                </a:solidFill>
                <a:latin typeface="Segoe UI"/>
                <a:ea typeface="Segoe UI"/>
                <a:cs typeface="Segoe UI"/>
              </a:defRPr>
            </a:pPr>
            <a:r>
              <a:rPr sz="2175" b="0">
                <a:solidFill>
                  <a:srgbClr val="ABB9CE"/>
                </a:solidFill>
                <a:latin typeface="Segoe UI"/>
                <a:ea typeface="Segoe UI"/>
                <a:cs typeface="Segoe UI"/>
              </a:rPr>
              <a:t>może czekać Twój depozyt.</a:t>
            </a:r>
          </a:p>
        </p:txBody>
      </p:sp>
      <p:sp>
        <p:nvSpPr>
          <p:cNvPr id="8" name="text-7">
            <a:extLst xmlns:a="http://schemas.openxmlformats.org/drawingml/2006/main">
              <a:ext uri="{FF2B5EF4-FFF2-40B4-BE49-F238E27FC236}">
                <a16:creationId xmlns:a16="http://schemas.microsoft.com/office/drawing/2014/main" id="{B5C5DC97-38B1-423C-97F3-B881A40BE046}"/>
              </a:ext>
            </a:extLst>
          </p:cNvPr>
          <p:cNvSpPr>
            <a:spLocks xmlns:a="http://schemas.openxmlformats.org/drawingml/2006/main" noGrp="1"/>
          </p:cNvSpPr>
          <p:nvPr/>
        </p:nvSpPr>
        <p:spPr>
          <a:xfrm xmlns:a="http://schemas.openxmlformats.org/drawingml/2006/main">
            <a:off x="685800" y="4933950"/>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B8EF6C"/>
                </a:solidFill>
                <a:latin typeface="Segoe UI"/>
                <a:ea typeface="Segoe UI"/>
                <a:cs typeface="Segoe UI"/>
              </a:defRPr>
            </a:pPr>
            <a:r>
              <a:rPr sz="2175" b="0">
                <a:solidFill>
                  <a:srgbClr val="B8EF6C"/>
                </a:solidFill>
                <a:latin typeface="Segoe UI"/>
                <a:ea typeface="Segoe UI"/>
                <a:cs typeface="Segoe UI"/>
              </a:rPr>
              <a:t>Akceptujesz warunki</a:t>
            </a:r>
          </a:p>
          <a:p xmlns:a="http://schemas.openxmlformats.org/drawingml/2006/main">
            <a:pPr>
              <a:defRPr sz="2175" b="0">
                <a:solidFill>
                  <a:srgbClr val="B8EF6C"/>
                </a:solidFill>
                <a:latin typeface="Segoe UI"/>
                <a:ea typeface="Segoe UI"/>
                <a:cs typeface="Segoe UI"/>
              </a:defRPr>
            </a:pPr>
            <a:r>
              <a:rPr sz="2175" b="0">
                <a:solidFill>
                  <a:srgbClr val="B8EF6C"/>
                </a:solidFill>
                <a:latin typeface="Segoe UI"/>
                <a:ea typeface="Segoe UI"/>
                <a:cs typeface="Segoe UI"/>
              </a:rPr>
              <a:t>przed zatwierdzeniem.</a:t>
            </a:r>
          </a:p>
        </p:txBody>
      </p:sp>
    </p:spTree>
    <p:extLst>
      <p:ext uri="{BB962C8B-B14F-4D97-AF65-F5344CB8AC3E}">
        <p14:creationId xmlns:p14="http://schemas.microsoft.com/office/powerpoint/2010/main" val="414464765"/>
      </p:ext>
    </p:extLst>
  </p:cSld>
</p:sld>
</file>

<file path=ppt/slides/slide5.xml><?xml version="1.0" encoding="utf-8"?>
<p:sld xmlns:p="http://schemas.openxmlformats.org/presentationml/2006/main">
  <p:cSld>
    <p:bg>
      <p:bgPr>
        <a:solidFill xmlns:a="http://schemas.openxmlformats.org/drawingml/2006/main">
          <a:srgbClr val="0C1424"/>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58351346-9E64-405C-81BB-D780560A3A6A}"/>
              </a:ext>
            </a:extLst>
          </p:cNvPr>
          <p:cNvSpPr>
            <a:spLocks xmlns:a="http://schemas.openxmlformats.org/drawingml/2006/main" noGrp="1"/>
          </p:cNvSpPr>
          <p:nvPr/>
        </p:nvSpPr>
        <p:spPr>
          <a:xfrm xmlns:a="http://schemas.openxmlformats.org/drawingml/2006/main">
            <a:off x="685800" y="571500"/>
            <a:ext cx="10820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0F4F9"/>
                </a:solidFill>
                <a:latin typeface="Segoe UI"/>
                <a:ea typeface="Segoe UI"/>
                <a:cs typeface="Segoe UI"/>
              </a:defRPr>
            </a:pPr>
            <a:r>
              <a:rPr sz="3450" b="1">
                <a:solidFill>
                  <a:srgbClr val="F0F4F9"/>
                </a:solidFill>
                <a:latin typeface="Segoe UI"/>
                <a:ea typeface="Segoe UI"/>
                <a:cs typeface="Segoe UI"/>
              </a:rPr>
              <a:t>Każdy wpłaca we własnym czasie</a:t>
            </a:r>
          </a:p>
        </p:txBody>
      </p:sp>
      <p:sp>
        <p:nvSpPr>
          <p:cNvPr id="2" name="text-2">
            <a:extLst xmlns:a="http://schemas.openxmlformats.org/drawingml/2006/main">
              <a:ext uri="{FF2B5EF4-FFF2-40B4-BE49-F238E27FC236}">
                <a16:creationId xmlns:a16="http://schemas.microsoft.com/office/drawing/2014/main" id="{0F8F36E5-64CC-45DB-A62C-073A978E4853}"/>
              </a:ext>
            </a:extLst>
          </p:cNvPr>
          <p:cNvSpPr>
            <a:spLocks xmlns:a="http://schemas.openxmlformats.org/drawingml/2006/main" noGrp="1"/>
          </p:cNvSpPr>
          <p:nvPr/>
        </p:nvSpPr>
        <p:spPr>
          <a:xfrm xmlns:a="http://schemas.openxmlformats.org/drawingml/2006/main">
            <a:off x="685800" y="6324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SwapCircle</a:t>
            </a:r>
          </a:p>
        </p:txBody>
      </p:sp>
      <p:sp>
        <p:nvSpPr>
          <p:cNvPr id="3" name="text-3">
            <a:extLst xmlns:a="http://schemas.openxmlformats.org/drawingml/2006/main">
              <a:ext uri="{FF2B5EF4-FFF2-40B4-BE49-F238E27FC236}">
                <a16:creationId xmlns:a16="http://schemas.microsoft.com/office/drawing/2014/main" id="{E90FAD92-ABAB-4B6D-BC95-A754B484A9D0}"/>
              </a:ext>
            </a:extLst>
          </p:cNvPr>
          <p:cNvSpPr>
            <a:spLocks xmlns:a="http://schemas.openxmlformats.org/drawingml/2006/main" noGrp="1"/>
          </p:cNvSpPr>
          <p:nvPr/>
        </p:nvSpPr>
        <p:spPr>
          <a:xfrm xmlns:a="http://schemas.openxmlformats.org/drawingml/2006/main">
            <a:off x="10820400" y="632460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5 / 9</a:t>
            </a:r>
          </a:p>
        </p:txBody>
      </p:sp>
      <p:sp>
        <p:nvSpPr>
          <p:cNvPr id="4" name="text-4">
            <a:extLst xmlns:a="http://schemas.openxmlformats.org/drawingml/2006/main">
              <a:ext uri="{FF2B5EF4-FFF2-40B4-BE49-F238E27FC236}">
                <a16:creationId xmlns:a16="http://schemas.microsoft.com/office/drawing/2014/main" id="{F1568B4E-65FC-41C0-BE3C-1D7B6AE0382E}"/>
              </a:ext>
            </a:extLst>
          </p:cNvPr>
          <p:cNvSpPr>
            <a:spLocks xmlns:a="http://schemas.openxmlformats.org/drawingml/2006/main" noGrp="1"/>
          </p:cNvSpPr>
          <p:nvPr/>
        </p:nvSpPr>
        <p:spPr>
          <a:xfrm xmlns:a="http://schemas.openxmlformats.org/drawingml/2006/main">
            <a:off x="2324100" y="63246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Demo. Tokeny dX, dY i dZ nie mają wartości pieniężnej.</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77ee21566334cc0"/>
          <a:stretch xmlns:a="http://schemas.openxmlformats.org/drawingml/2006/main"/>
        </p:blipFill>
        <p:spPr>
          <a:xfrm xmlns:a="http://schemas.openxmlformats.org/drawingml/2006/main">
            <a:off x="685800" y="2005596"/>
            <a:ext cx="10820400" cy="3342107"/>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F1DA6421-236E-4C1D-AF18-D4EEE5462FA2}"/>
              </a:ext>
            </a:extLst>
          </p:cNvPr>
          <p:cNvSpPr>
            <a:spLocks xmlns:a="http://schemas.openxmlformats.org/drawingml/2006/main" noGrp="1"/>
          </p:cNvSpPr>
          <p:nvPr/>
        </p:nvSpPr>
        <p:spPr>
          <a:xfrm xmlns:a="http://schemas.openxmlformats.org/drawingml/2006/main">
            <a:off x="685800" y="56102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B8EF6C"/>
                </a:solidFill>
                <a:latin typeface="Segoe UI"/>
                <a:ea typeface="Segoe UI"/>
                <a:cs typeface="Segoe UI"/>
              </a:defRPr>
            </a:pPr>
            <a:r>
              <a:rPr sz="2025" b="0">
                <a:solidFill>
                  <a:srgbClr val="B8EF6C"/>
                </a:solidFill>
                <a:latin typeface="Segoe UI"/>
                <a:ea typeface="Segoe UI"/>
                <a:cs typeface="Segoe UI"/>
              </a:rPr>
              <a:t>Wcześniejsi uczestnicy nie muszą ponownie podpisywać rozliczenia.</a:t>
            </a:r>
          </a:p>
        </p:txBody>
      </p:sp>
    </p:spTree>
    <p:extLst>
      <p:ext uri="{BB962C8B-B14F-4D97-AF65-F5344CB8AC3E}">
        <p14:creationId xmlns:p14="http://schemas.microsoft.com/office/powerpoint/2010/main" val="911023349"/>
      </p:ext>
    </p:extLst>
  </p:cSld>
</p:sld>
</file>

<file path=ppt/slides/slide6.xml><?xml version="1.0" encoding="utf-8"?>
<p:sld xmlns:p="http://schemas.openxmlformats.org/presentationml/2006/main">
  <p:cSld>
    <p:bg>
      <p:bgPr>
        <a:solidFill xmlns:a="http://schemas.openxmlformats.org/drawingml/2006/main">
          <a:srgbClr val="0C1424"/>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770D4663-D922-45E2-81EB-079D2E32F07A}"/>
              </a:ext>
            </a:extLst>
          </p:cNvPr>
          <p:cNvSpPr>
            <a:spLocks xmlns:a="http://schemas.openxmlformats.org/drawingml/2006/main" noGrp="1"/>
          </p:cNvSpPr>
          <p:nvPr/>
        </p:nvSpPr>
        <p:spPr>
          <a:xfrm xmlns:a="http://schemas.openxmlformats.org/drawingml/2006/main">
            <a:off x="685800" y="571500"/>
            <a:ext cx="10820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0F4F9"/>
                </a:solidFill>
                <a:latin typeface="Segoe UI"/>
                <a:ea typeface="Segoe UI"/>
                <a:cs typeface="Segoe UI"/>
              </a:defRPr>
            </a:pPr>
            <a:r>
              <a:rPr sz="3450" b="1">
                <a:solidFill>
                  <a:srgbClr val="F0F4F9"/>
                </a:solidFill>
                <a:latin typeface="Segoe UI"/>
                <a:ea typeface="Segoe UI"/>
                <a:cs typeface="Segoe UI"/>
              </a:rPr>
              <a:t>Ostatnia wpłata rozlicza cały krąg</a:t>
            </a:r>
          </a:p>
        </p:txBody>
      </p:sp>
      <p:sp>
        <p:nvSpPr>
          <p:cNvPr id="2" name="text-2">
            <a:extLst xmlns:a="http://schemas.openxmlformats.org/drawingml/2006/main">
              <a:ext uri="{FF2B5EF4-FFF2-40B4-BE49-F238E27FC236}">
                <a16:creationId xmlns:a16="http://schemas.microsoft.com/office/drawing/2014/main" id="{DFA8AA88-D640-4B1F-96A4-42A369D7BB52}"/>
              </a:ext>
            </a:extLst>
          </p:cNvPr>
          <p:cNvSpPr>
            <a:spLocks xmlns:a="http://schemas.openxmlformats.org/drawingml/2006/main" noGrp="1"/>
          </p:cNvSpPr>
          <p:nvPr/>
        </p:nvSpPr>
        <p:spPr>
          <a:xfrm xmlns:a="http://schemas.openxmlformats.org/drawingml/2006/main">
            <a:off x="685800" y="6324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SwapCircle</a:t>
            </a:r>
          </a:p>
        </p:txBody>
      </p:sp>
      <p:sp>
        <p:nvSpPr>
          <p:cNvPr id="3" name="text-3">
            <a:extLst xmlns:a="http://schemas.openxmlformats.org/drawingml/2006/main">
              <a:ext uri="{FF2B5EF4-FFF2-40B4-BE49-F238E27FC236}">
                <a16:creationId xmlns:a16="http://schemas.microsoft.com/office/drawing/2014/main" id="{87CA7905-4492-4D34-A269-68F7E34EA00B}"/>
              </a:ext>
            </a:extLst>
          </p:cNvPr>
          <p:cNvSpPr>
            <a:spLocks xmlns:a="http://schemas.openxmlformats.org/drawingml/2006/main" noGrp="1"/>
          </p:cNvSpPr>
          <p:nvPr/>
        </p:nvSpPr>
        <p:spPr>
          <a:xfrm xmlns:a="http://schemas.openxmlformats.org/drawingml/2006/main">
            <a:off x="10820400" y="632460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6 / 9</a:t>
            </a:r>
          </a:p>
        </p:txBody>
      </p:sp>
      <p:sp>
        <p:nvSpPr>
          <p:cNvPr id="4" name="text-4">
            <a:extLst xmlns:a="http://schemas.openxmlformats.org/drawingml/2006/main">
              <a:ext uri="{FF2B5EF4-FFF2-40B4-BE49-F238E27FC236}">
                <a16:creationId xmlns:a16="http://schemas.microsoft.com/office/drawing/2014/main" id="{E1B10626-34E6-4EA3-B622-37AECFB8E270}"/>
              </a:ext>
            </a:extLst>
          </p:cNvPr>
          <p:cNvSpPr>
            <a:spLocks xmlns:a="http://schemas.openxmlformats.org/drawingml/2006/main" noGrp="1"/>
          </p:cNvSpPr>
          <p:nvPr/>
        </p:nvSpPr>
        <p:spPr>
          <a:xfrm xmlns:a="http://schemas.openxmlformats.org/drawingml/2006/main">
            <a:off x="2324100" y="63246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Demo. Tokeny dX, dY i dZ nie mają wartości pieniężnej.</a:t>
            </a:r>
          </a:p>
        </p:txBody>
      </p:sp>
      <p:sp>
        <p:nvSpPr>
          <p:cNvPr id="5" name="text-5">
            <a:extLst xmlns:a="http://schemas.openxmlformats.org/drawingml/2006/main">
              <a:ext uri="{FF2B5EF4-FFF2-40B4-BE49-F238E27FC236}">
                <a16:creationId xmlns:a16="http://schemas.microsoft.com/office/drawing/2014/main" id="{A9944190-1EF3-4099-84F5-52E79645E2A9}"/>
              </a:ext>
            </a:extLst>
          </p:cNvPr>
          <p:cNvSpPr>
            <a:spLocks xmlns:a="http://schemas.openxmlformats.org/drawingml/2006/main" noGrp="1"/>
          </p:cNvSpPr>
          <p:nvPr/>
        </p:nvSpPr>
        <p:spPr>
          <a:xfrm xmlns:a="http://schemas.openxmlformats.org/drawingml/2006/main">
            <a:off x="685800" y="166687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B8EF6C"/>
                </a:solidFill>
                <a:latin typeface="Segoe UI"/>
                <a:ea typeface="Segoe UI"/>
                <a:cs typeface="Segoe UI"/>
              </a:defRPr>
            </a:pPr>
            <a:r>
              <a:rPr sz="2100" b="0">
                <a:solidFill>
                  <a:srgbClr val="B8EF6C"/>
                </a:solidFill>
                <a:latin typeface="Segoe UI"/>
                <a:ea typeface="Segoe UI"/>
                <a:cs typeface="Segoe UI"/>
              </a:rPr>
              <a:t>Wszystkie uzgodnione przekazania w jednej transakcji.</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872839f8cdd4679"/>
          <a:stretch xmlns:a="http://schemas.openxmlformats.org/drawingml/2006/main"/>
        </p:blipFill>
        <p:spPr>
          <a:xfrm xmlns:a="http://schemas.openxmlformats.org/drawingml/2006/main">
            <a:off x="685800" y="2496134"/>
            <a:ext cx="10820400" cy="3342107"/>
          </a:xfrm>
          <a:prstGeom xmlns:a="http://schemas.openxmlformats.org/drawingml/2006/main" prst="rect">
            <a:avLst/>
          </a:prstGeom>
        </p:spPr>
      </p:pic>
    </p:spTree>
    <p:extLst>
      <p:ext uri="{BB962C8B-B14F-4D97-AF65-F5344CB8AC3E}">
        <p14:creationId xmlns:p14="http://schemas.microsoft.com/office/powerpoint/2010/main" val="1798058378"/>
      </p:ext>
    </p:extLst>
  </p:cSld>
</p:sld>
</file>

<file path=ppt/slides/slide7.xml><?xml version="1.0" encoding="utf-8"?>
<p:sld xmlns:p="http://schemas.openxmlformats.org/presentationml/2006/main">
  <p:cSld>
    <p:bg>
      <p:bgPr>
        <a:solidFill xmlns:a="http://schemas.openxmlformats.org/drawingml/2006/main">
          <a:srgbClr val="0C1424"/>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37AC2BDF-9EF4-4B3A-919F-BCB52923304A}"/>
              </a:ext>
            </a:extLst>
          </p:cNvPr>
          <p:cNvSpPr>
            <a:spLocks xmlns:a="http://schemas.openxmlformats.org/drawingml/2006/main" noGrp="1"/>
          </p:cNvSpPr>
          <p:nvPr/>
        </p:nvSpPr>
        <p:spPr>
          <a:xfrm xmlns:a="http://schemas.openxmlformats.org/drawingml/2006/main">
            <a:off x="685800" y="571500"/>
            <a:ext cx="10820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0F4F9"/>
                </a:solidFill>
                <a:latin typeface="Segoe UI"/>
                <a:ea typeface="Segoe UI"/>
                <a:cs typeface="Segoe UI"/>
              </a:defRPr>
            </a:pPr>
            <a:r>
              <a:rPr sz="3450" b="1">
                <a:solidFill>
                  <a:srgbClr val="F0F4F9"/>
                </a:solidFill>
                <a:latin typeface="Segoe UI"/>
                <a:ea typeface="Segoe UI"/>
                <a:cs typeface="Segoe UI"/>
              </a:rPr>
              <a:t>Niezależny zwrot po terminie</a:t>
            </a:r>
          </a:p>
        </p:txBody>
      </p:sp>
      <p:sp>
        <p:nvSpPr>
          <p:cNvPr id="2" name="text-2">
            <a:extLst xmlns:a="http://schemas.openxmlformats.org/drawingml/2006/main">
              <a:ext uri="{FF2B5EF4-FFF2-40B4-BE49-F238E27FC236}">
                <a16:creationId xmlns:a16="http://schemas.microsoft.com/office/drawing/2014/main" id="{8525D754-D8CA-4EAE-86C4-CF2ADD53C5F9}"/>
              </a:ext>
            </a:extLst>
          </p:cNvPr>
          <p:cNvSpPr>
            <a:spLocks xmlns:a="http://schemas.openxmlformats.org/drawingml/2006/main" noGrp="1"/>
          </p:cNvSpPr>
          <p:nvPr/>
        </p:nvSpPr>
        <p:spPr>
          <a:xfrm xmlns:a="http://schemas.openxmlformats.org/drawingml/2006/main">
            <a:off x="685800" y="6324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SwapCircle</a:t>
            </a:r>
          </a:p>
        </p:txBody>
      </p:sp>
      <p:sp>
        <p:nvSpPr>
          <p:cNvPr id="3" name="text-3">
            <a:extLst xmlns:a="http://schemas.openxmlformats.org/drawingml/2006/main">
              <a:ext uri="{FF2B5EF4-FFF2-40B4-BE49-F238E27FC236}">
                <a16:creationId xmlns:a16="http://schemas.microsoft.com/office/drawing/2014/main" id="{00993974-677C-4580-968A-6D5009977A96}"/>
              </a:ext>
            </a:extLst>
          </p:cNvPr>
          <p:cNvSpPr>
            <a:spLocks xmlns:a="http://schemas.openxmlformats.org/drawingml/2006/main" noGrp="1"/>
          </p:cNvSpPr>
          <p:nvPr/>
        </p:nvSpPr>
        <p:spPr>
          <a:xfrm xmlns:a="http://schemas.openxmlformats.org/drawingml/2006/main">
            <a:off x="10820400" y="632460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7 / 9</a:t>
            </a:r>
          </a:p>
        </p:txBody>
      </p:sp>
      <p:sp>
        <p:nvSpPr>
          <p:cNvPr id="4" name="text-4">
            <a:extLst xmlns:a="http://schemas.openxmlformats.org/drawingml/2006/main">
              <a:ext uri="{FF2B5EF4-FFF2-40B4-BE49-F238E27FC236}">
                <a16:creationId xmlns:a16="http://schemas.microsoft.com/office/drawing/2014/main" id="{99A63C0B-B9E3-4B7D-974C-90F002090022}"/>
              </a:ext>
            </a:extLst>
          </p:cNvPr>
          <p:cNvSpPr>
            <a:spLocks xmlns:a="http://schemas.openxmlformats.org/drawingml/2006/main" noGrp="1"/>
          </p:cNvSpPr>
          <p:nvPr/>
        </p:nvSpPr>
        <p:spPr>
          <a:xfrm xmlns:a="http://schemas.openxmlformats.org/drawingml/2006/main">
            <a:off x="2324100" y="63246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Demo. Tokeny dX, dY i dZ nie mają wartości pieniężnej.</a:t>
            </a:r>
          </a:p>
        </p:txBody>
      </p:sp>
      <p:sp>
        <p:nvSpPr>
          <p:cNvPr id="5" name="text-5">
            <a:extLst xmlns:a="http://schemas.openxmlformats.org/drawingml/2006/main">
              <a:ext uri="{FF2B5EF4-FFF2-40B4-BE49-F238E27FC236}">
                <a16:creationId xmlns:a16="http://schemas.microsoft.com/office/drawing/2014/main" id="{BD168329-252E-4916-8D71-3040FE4F1396}"/>
              </a:ext>
            </a:extLst>
          </p:cNvPr>
          <p:cNvSpPr>
            <a:spLocks xmlns:a="http://schemas.openxmlformats.org/drawingml/2006/main" noGrp="1"/>
          </p:cNvSpPr>
          <p:nvPr/>
        </p:nvSpPr>
        <p:spPr>
          <a:xfrm xmlns:a="http://schemas.openxmlformats.org/drawingml/2006/main">
            <a:off x="685800" y="180022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B8EF6C"/>
                </a:solidFill>
                <a:latin typeface="Segoe UI"/>
                <a:ea typeface="Segoe UI"/>
                <a:cs typeface="Segoe UI"/>
              </a:defRPr>
            </a:pPr>
            <a:r>
              <a:rPr sz="2175" b="0">
                <a:solidFill>
                  <a:srgbClr val="B8EF6C"/>
                </a:solidFill>
                <a:latin typeface="Segoe UI"/>
                <a:ea typeface="Segoe UI"/>
                <a:cs typeface="Segoe UI"/>
              </a:rPr>
              <a:t>Każdy osobno, bez zgody pozostałych uczestników.</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e2815e9a67e4579"/>
          <a:stretch xmlns:a="http://schemas.openxmlformats.org/drawingml/2006/main"/>
        </p:blipFill>
        <p:spPr>
          <a:xfrm xmlns:a="http://schemas.openxmlformats.org/drawingml/2006/main">
            <a:off x="685800" y="2543759"/>
            <a:ext cx="10820400" cy="3342107"/>
          </a:xfrm>
          <a:prstGeom xmlns:a="http://schemas.openxmlformats.org/drawingml/2006/main" prst="rect">
            <a:avLst/>
          </a:prstGeom>
        </p:spPr>
      </p:pic>
    </p:spTree>
    <p:extLst>
      <p:ext uri="{BB962C8B-B14F-4D97-AF65-F5344CB8AC3E}">
        <p14:creationId xmlns:p14="http://schemas.microsoft.com/office/powerpoint/2010/main" val="646836983"/>
      </p:ext>
    </p:extLst>
  </p:cSld>
</p:sld>
</file>

<file path=ppt/slides/slide8.xml><?xml version="1.0" encoding="utf-8"?>
<p:sld xmlns:p="http://schemas.openxmlformats.org/presentationml/2006/main">
  <p:cSld>
    <p:bg>
      <p:bgPr>
        <a:solidFill xmlns:a="http://schemas.openxmlformats.org/drawingml/2006/main">
          <a:srgbClr val="0C1424"/>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1557E055-E66B-43EB-A7E8-E48B880BCB64}"/>
              </a:ext>
            </a:extLst>
          </p:cNvPr>
          <p:cNvSpPr>
            <a:spLocks xmlns:a="http://schemas.openxmlformats.org/drawingml/2006/main" noGrp="1"/>
          </p:cNvSpPr>
          <p:nvPr/>
        </p:nvSpPr>
        <p:spPr>
          <a:xfrm xmlns:a="http://schemas.openxmlformats.org/drawingml/2006/main">
            <a:off x="685800" y="571500"/>
            <a:ext cx="10820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0F4F9"/>
                </a:solidFill>
                <a:latin typeface="Segoe UI"/>
                <a:ea typeface="Segoe UI"/>
                <a:cs typeface="Segoe UI"/>
              </a:defRPr>
            </a:pPr>
            <a:r>
              <a:rPr sz="3450" b="1">
                <a:solidFill>
                  <a:srgbClr val="F0F4F9"/>
                </a:solidFill>
                <a:latin typeface="Segoe UI"/>
                <a:ea typeface="Segoe UI"/>
                <a:cs typeface="Segoe UI"/>
              </a:rPr>
              <a:t>Program przejmuje rolę powiernika</a:t>
            </a:r>
          </a:p>
        </p:txBody>
      </p:sp>
      <p:sp>
        <p:nvSpPr>
          <p:cNvPr id="2" name="text-2">
            <a:extLst xmlns:a="http://schemas.openxmlformats.org/drawingml/2006/main">
              <a:ext uri="{FF2B5EF4-FFF2-40B4-BE49-F238E27FC236}">
                <a16:creationId xmlns:a16="http://schemas.microsoft.com/office/drawing/2014/main" id="{2478982B-699D-4D7D-AE81-DC8B67CEAA67}"/>
              </a:ext>
            </a:extLst>
          </p:cNvPr>
          <p:cNvSpPr>
            <a:spLocks xmlns:a="http://schemas.openxmlformats.org/drawingml/2006/main" noGrp="1"/>
          </p:cNvSpPr>
          <p:nvPr/>
        </p:nvSpPr>
        <p:spPr>
          <a:xfrm xmlns:a="http://schemas.openxmlformats.org/drawingml/2006/main">
            <a:off x="685800" y="6324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SwapCircle</a:t>
            </a:r>
          </a:p>
        </p:txBody>
      </p:sp>
      <p:sp>
        <p:nvSpPr>
          <p:cNvPr id="3" name="text-3">
            <a:extLst xmlns:a="http://schemas.openxmlformats.org/drawingml/2006/main">
              <a:ext uri="{FF2B5EF4-FFF2-40B4-BE49-F238E27FC236}">
                <a16:creationId xmlns:a16="http://schemas.microsoft.com/office/drawing/2014/main" id="{3792A93B-585D-48B3-8053-C21701525E73}"/>
              </a:ext>
            </a:extLst>
          </p:cNvPr>
          <p:cNvSpPr>
            <a:spLocks xmlns:a="http://schemas.openxmlformats.org/drawingml/2006/main" noGrp="1"/>
          </p:cNvSpPr>
          <p:nvPr/>
        </p:nvSpPr>
        <p:spPr>
          <a:xfrm xmlns:a="http://schemas.openxmlformats.org/drawingml/2006/main">
            <a:off x="10820400" y="632460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8 / 9</a:t>
            </a:r>
          </a:p>
        </p:txBody>
      </p:sp>
      <p:sp>
        <p:nvSpPr>
          <p:cNvPr id="4" name="text-4">
            <a:extLst xmlns:a="http://schemas.openxmlformats.org/drawingml/2006/main">
              <a:ext uri="{FF2B5EF4-FFF2-40B4-BE49-F238E27FC236}">
                <a16:creationId xmlns:a16="http://schemas.microsoft.com/office/drawing/2014/main" id="{2E4AE0BD-35D9-418B-A359-8842439B7ABD}"/>
              </a:ext>
            </a:extLst>
          </p:cNvPr>
          <p:cNvSpPr>
            <a:spLocks xmlns:a="http://schemas.openxmlformats.org/drawingml/2006/main" noGrp="1"/>
          </p:cNvSpPr>
          <p:nvPr/>
        </p:nvSpPr>
        <p:spPr>
          <a:xfrm xmlns:a="http://schemas.openxmlformats.org/drawingml/2006/main">
            <a:off x="685800" y="2085975"/>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B8EF6C"/>
                </a:solidFill>
                <a:latin typeface="Segoe UI"/>
                <a:ea typeface="Segoe UI"/>
                <a:cs typeface="Segoe UI"/>
              </a:defRPr>
            </a:pPr>
            <a:r>
              <a:rPr sz="2775" b="1">
                <a:solidFill>
                  <a:srgbClr val="B8EF6C"/>
                </a:solidFill>
                <a:latin typeface="Segoe UI"/>
                <a:ea typeface="Segoe UI"/>
                <a:cs typeface="Segoe UI"/>
              </a:rPr>
              <a:t>Dopasowanie</a:t>
            </a:r>
          </a:p>
        </p:txBody>
      </p:sp>
      <p:sp>
        <p:nvSpPr>
          <p:cNvPr id="5" name="text-5">
            <a:extLst xmlns:a="http://schemas.openxmlformats.org/drawingml/2006/main">
              <a:ext uri="{FF2B5EF4-FFF2-40B4-BE49-F238E27FC236}">
                <a16:creationId xmlns:a16="http://schemas.microsoft.com/office/drawing/2014/main" id="{8D95FC8E-CF0B-42FF-9F4D-985DEA500E27}"/>
              </a:ext>
            </a:extLst>
          </p:cNvPr>
          <p:cNvSpPr>
            <a:spLocks xmlns:a="http://schemas.openxmlformats.org/drawingml/2006/main" noGrp="1"/>
          </p:cNvSpPr>
          <p:nvPr/>
        </p:nvSpPr>
        <p:spPr>
          <a:xfrm xmlns:a="http://schemas.openxmlformats.org/drawingml/2006/main">
            <a:off x="685800" y="2943225"/>
            <a:ext cx="4914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F0F4F9"/>
                </a:solidFill>
                <a:latin typeface="Segoe UI"/>
                <a:ea typeface="Segoe UI"/>
                <a:cs typeface="Segoe UI"/>
              </a:defRPr>
            </a:pPr>
            <a:r>
              <a:rPr sz="2475" b="0">
                <a:solidFill>
                  <a:srgbClr val="F0F4F9"/>
                </a:solidFill>
                <a:latin typeface="Segoe UI"/>
                <a:ea typeface="Segoe UI"/>
                <a:cs typeface="Segoe UI"/>
              </a:rPr>
              <a:t>Oferty wskazują, kto może</a:t>
            </a:r>
          </a:p>
          <a:p xmlns:a="http://schemas.openxmlformats.org/drawingml/2006/main">
            <a:pPr>
              <a:defRPr sz="2475" b="0">
                <a:solidFill>
                  <a:srgbClr val="F0F4F9"/>
                </a:solidFill>
                <a:latin typeface="Segoe UI"/>
                <a:ea typeface="Segoe UI"/>
                <a:cs typeface="Segoe UI"/>
              </a:defRPr>
            </a:pPr>
            <a:r>
              <a:rPr sz="2475" b="0">
                <a:solidFill>
                  <a:srgbClr val="F0F4F9"/>
                </a:solidFill>
                <a:latin typeface="Segoe UI"/>
                <a:ea typeface="Segoe UI"/>
                <a:cs typeface="Segoe UI"/>
              </a:rPr>
              <a:t>z kim utworzyć krąg.</a:t>
            </a:r>
          </a:p>
        </p:txBody>
      </p:sp>
      <p:sp>
        <p:nvSpPr>
          <p:cNvPr id="6" name="text-6">
            <a:extLst xmlns:a="http://schemas.openxmlformats.org/drawingml/2006/main">
              <a:ext uri="{FF2B5EF4-FFF2-40B4-BE49-F238E27FC236}">
                <a16:creationId xmlns:a16="http://schemas.microsoft.com/office/drawing/2014/main" id="{32E29360-204A-4CAE-B48F-5D8D4491F791}"/>
              </a:ext>
            </a:extLst>
          </p:cNvPr>
          <p:cNvSpPr>
            <a:spLocks xmlns:a="http://schemas.openxmlformats.org/drawingml/2006/main" noGrp="1"/>
          </p:cNvSpPr>
          <p:nvPr/>
        </p:nvSpPr>
        <p:spPr>
          <a:xfrm xmlns:a="http://schemas.openxmlformats.org/drawingml/2006/main">
            <a:off x="685800" y="4667250"/>
            <a:ext cx="49149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ABB9CE"/>
                </a:solidFill>
                <a:latin typeface="Segoe UI"/>
                <a:ea typeface="Segoe UI"/>
                <a:cs typeface="Segoe UI"/>
              </a:defRPr>
            </a:pPr>
            <a:r>
              <a:rPr sz="2025" b="0">
                <a:solidFill>
                  <a:srgbClr val="ABB9CE"/>
                </a:solidFill>
                <a:latin typeface="Segoe UI"/>
                <a:ea typeface="Segoe UI"/>
                <a:cs typeface="Segoe UI"/>
              </a:rPr>
              <a:t>Wyszukiwarka nie otrzymuje</a:t>
            </a:r>
          </a:p>
          <a:p xmlns:a="http://schemas.openxmlformats.org/drawingml/2006/main">
            <a:pPr>
              <a:defRPr sz="2025" b="0">
                <a:solidFill>
                  <a:srgbClr val="ABB9CE"/>
                </a:solidFill>
                <a:latin typeface="Segoe UI"/>
                <a:ea typeface="Segoe UI"/>
                <a:cs typeface="Segoe UI"/>
              </a:defRPr>
            </a:pPr>
            <a:r>
              <a:rPr sz="2025" b="0">
                <a:solidFill>
                  <a:srgbClr val="ABB9CE"/>
                </a:solidFill>
                <a:latin typeface="Segoe UI"/>
                <a:ea typeface="Segoe UI"/>
                <a:cs typeface="Segoe UI"/>
              </a:rPr>
              <a:t>kluczy do depozytów.</a:t>
            </a:r>
          </a:p>
        </p:txBody>
      </p:sp>
      <p:sp>
        <p:nvSpPr>
          <p:cNvPr id="7" name="text-7">
            <a:extLst xmlns:a="http://schemas.openxmlformats.org/drawingml/2006/main">
              <a:ext uri="{FF2B5EF4-FFF2-40B4-BE49-F238E27FC236}">
                <a16:creationId xmlns:a16="http://schemas.microsoft.com/office/drawing/2014/main" id="{555E93E3-C46B-4154-B780-54DEAAB5BEE6}"/>
              </a:ext>
            </a:extLst>
          </p:cNvPr>
          <p:cNvSpPr>
            <a:spLocks xmlns:a="http://schemas.openxmlformats.org/drawingml/2006/main" noGrp="1"/>
          </p:cNvSpPr>
          <p:nvPr/>
        </p:nvSpPr>
        <p:spPr>
          <a:xfrm xmlns:a="http://schemas.openxmlformats.org/drawingml/2006/main">
            <a:off x="6591300" y="2085975"/>
            <a:ext cx="4914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B8EF6C"/>
                </a:solidFill>
                <a:latin typeface="Segoe UI"/>
                <a:ea typeface="Segoe UI"/>
                <a:cs typeface="Segoe UI"/>
              </a:defRPr>
            </a:pPr>
            <a:r>
              <a:rPr sz="2775" b="1">
                <a:solidFill>
                  <a:srgbClr val="B8EF6C"/>
                </a:solidFill>
                <a:latin typeface="Segoe UI"/>
                <a:ea typeface="Segoe UI"/>
                <a:cs typeface="Segoe UI"/>
              </a:rPr>
              <a:t>Rozliczenie</a:t>
            </a:r>
          </a:p>
        </p:txBody>
      </p:sp>
      <p:sp>
        <p:nvSpPr>
          <p:cNvPr id="8" name="text-8">
            <a:extLst xmlns:a="http://schemas.openxmlformats.org/drawingml/2006/main">
              <a:ext uri="{FF2B5EF4-FFF2-40B4-BE49-F238E27FC236}">
                <a16:creationId xmlns:a16="http://schemas.microsoft.com/office/drawing/2014/main" id="{CCDD19C1-5F64-4BC4-8622-C4DA5AA52544}"/>
              </a:ext>
            </a:extLst>
          </p:cNvPr>
          <p:cNvSpPr>
            <a:spLocks xmlns:a="http://schemas.openxmlformats.org/drawingml/2006/main" noGrp="1"/>
          </p:cNvSpPr>
          <p:nvPr/>
        </p:nvSpPr>
        <p:spPr>
          <a:xfrm xmlns:a="http://schemas.openxmlformats.org/drawingml/2006/main">
            <a:off x="6591300" y="2943225"/>
            <a:ext cx="4914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F0F4F9"/>
                </a:solidFill>
                <a:latin typeface="Segoe UI"/>
                <a:ea typeface="Segoe UI"/>
                <a:cs typeface="Segoe UI"/>
              </a:defRPr>
            </a:pPr>
            <a:r>
              <a:rPr sz="2475" b="0">
                <a:solidFill>
                  <a:srgbClr val="F0F4F9"/>
                </a:solidFill>
                <a:latin typeface="Segoe UI"/>
                <a:ea typeface="Segoe UI"/>
                <a:cs typeface="Segoe UI"/>
              </a:rPr>
              <a:t>Program egzekwuje ilości,</a:t>
            </a:r>
          </a:p>
          <a:p xmlns:a="http://schemas.openxmlformats.org/drawingml/2006/main">
            <a:pPr>
              <a:defRPr sz="2475" b="0">
                <a:solidFill>
                  <a:srgbClr val="F0F4F9"/>
                </a:solidFill>
                <a:latin typeface="Segoe UI"/>
                <a:ea typeface="Segoe UI"/>
                <a:cs typeface="Segoe UI"/>
              </a:defRPr>
            </a:pPr>
            <a:r>
              <a:rPr sz="2475" b="0">
                <a:solidFill>
                  <a:srgbClr val="F0F4F9"/>
                </a:solidFill>
                <a:latin typeface="Segoe UI"/>
                <a:ea typeface="Segoe UI"/>
                <a:cs typeface="Segoe UI"/>
              </a:rPr>
              <a:t>odbiorców i termin.</a:t>
            </a:r>
          </a:p>
        </p:txBody>
      </p:sp>
      <p:sp>
        <p:nvSpPr>
          <p:cNvPr id="9" name="text-9">
            <a:extLst xmlns:a="http://schemas.openxmlformats.org/drawingml/2006/main">
              <a:ext uri="{FF2B5EF4-FFF2-40B4-BE49-F238E27FC236}">
                <a16:creationId xmlns:a16="http://schemas.microsoft.com/office/drawing/2014/main" id="{90FAED6C-CB52-48A8-A97A-8D89D968626D}"/>
              </a:ext>
            </a:extLst>
          </p:cNvPr>
          <p:cNvSpPr>
            <a:spLocks xmlns:a="http://schemas.openxmlformats.org/drawingml/2006/main" noGrp="1"/>
          </p:cNvSpPr>
          <p:nvPr/>
        </p:nvSpPr>
        <p:spPr>
          <a:xfrm xmlns:a="http://schemas.openxmlformats.org/drawingml/2006/main">
            <a:off x="6591300" y="4667250"/>
            <a:ext cx="49149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ABB9CE"/>
                </a:solidFill>
                <a:latin typeface="Segoe UI"/>
                <a:ea typeface="Segoe UI"/>
                <a:cs typeface="Segoe UI"/>
              </a:defRPr>
            </a:pPr>
            <a:r>
              <a:rPr sz="2025" b="0">
                <a:solidFill>
                  <a:srgbClr val="ABB9CE"/>
                </a:solidFill>
                <a:latin typeface="Segoe UI"/>
                <a:ea typeface="Segoe UI"/>
                <a:cs typeface="Segoe UI"/>
              </a:rPr>
              <a:t>Wypłata wynika z warunków</a:t>
            </a:r>
          </a:p>
          <a:p xmlns:a="http://schemas.openxmlformats.org/drawingml/2006/main">
            <a:pPr>
              <a:defRPr sz="2025" b="0">
                <a:solidFill>
                  <a:srgbClr val="ABB9CE"/>
                </a:solidFill>
                <a:latin typeface="Segoe UI"/>
                <a:ea typeface="Segoe UI"/>
                <a:cs typeface="Segoe UI"/>
              </a:defRPr>
            </a:pPr>
            <a:r>
              <a:rPr sz="2025" b="0">
                <a:solidFill>
                  <a:srgbClr val="ABB9CE"/>
                </a:solidFill>
                <a:latin typeface="Segoe UI"/>
                <a:ea typeface="Segoe UI"/>
                <a:cs typeface="Segoe UI"/>
              </a:rPr>
              <a:t>zaakceptowanego kręgu.</a:t>
            </a:r>
          </a:p>
        </p:txBody>
      </p:sp>
    </p:spTree>
    <p:extLst>
      <p:ext uri="{BB962C8B-B14F-4D97-AF65-F5344CB8AC3E}">
        <p14:creationId xmlns:p14="http://schemas.microsoft.com/office/powerpoint/2010/main" val="2090550113"/>
      </p:ext>
    </p:extLst>
  </p:cSld>
</p:sld>
</file>

<file path=ppt/slides/slide9.xml><?xml version="1.0" encoding="utf-8"?>
<p:sld xmlns:p="http://schemas.openxmlformats.org/presentationml/2006/main">
  <p:cSld>
    <p:bg>
      <p:bgPr>
        <a:solidFill xmlns:a="http://schemas.openxmlformats.org/drawingml/2006/main">
          <a:srgbClr val="0C1424"/>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BB7D89C2-B555-4678-B92D-3428D8672168}"/>
              </a:ext>
            </a:extLst>
          </p:cNvPr>
          <p:cNvSpPr>
            <a:spLocks xmlns:a="http://schemas.openxmlformats.org/drawingml/2006/main" noGrp="1"/>
          </p:cNvSpPr>
          <p:nvPr/>
        </p:nvSpPr>
        <p:spPr>
          <a:xfrm xmlns:a="http://schemas.openxmlformats.org/drawingml/2006/main">
            <a:off x="685800" y="571500"/>
            <a:ext cx="10820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0F4F9"/>
                </a:solidFill>
                <a:latin typeface="Segoe UI"/>
                <a:ea typeface="Segoe UI"/>
                <a:cs typeface="Segoe UI"/>
              </a:defRPr>
            </a:pPr>
            <a:r>
              <a:rPr sz="3450" b="1">
                <a:solidFill>
                  <a:srgbClr val="F0F4F9"/>
                </a:solidFill>
                <a:latin typeface="Segoe UI"/>
                <a:ea typeface="Segoe UI"/>
                <a:cs typeface="Segoe UI"/>
              </a:rPr>
              <a:t>SwapCircle w Twojej społeczności</a:t>
            </a:r>
          </a:p>
        </p:txBody>
      </p:sp>
      <p:sp>
        <p:nvSpPr>
          <p:cNvPr id="2" name="text-2">
            <a:extLst xmlns:a="http://schemas.openxmlformats.org/drawingml/2006/main">
              <a:ext uri="{FF2B5EF4-FFF2-40B4-BE49-F238E27FC236}">
                <a16:creationId xmlns:a16="http://schemas.microsoft.com/office/drawing/2014/main" id="{9836D474-37B0-47CE-AE11-D4F74861B7FE}"/>
              </a:ext>
            </a:extLst>
          </p:cNvPr>
          <p:cNvSpPr>
            <a:spLocks xmlns:a="http://schemas.openxmlformats.org/drawingml/2006/main" noGrp="1"/>
          </p:cNvSpPr>
          <p:nvPr/>
        </p:nvSpPr>
        <p:spPr>
          <a:xfrm xmlns:a="http://schemas.openxmlformats.org/drawingml/2006/main">
            <a:off x="685800" y="6324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SwapCircle</a:t>
            </a:r>
          </a:p>
        </p:txBody>
      </p:sp>
      <p:sp>
        <p:nvSpPr>
          <p:cNvPr id="3" name="text-3">
            <a:extLst xmlns:a="http://schemas.openxmlformats.org/drawingml/2006/main">
              <a:ext uri="{FF2B5EF4-FFF2-40B4-BE49-F238E27FC236}">
                <a16:creationId xmlns:a16="http://schemas.microsoft.com/office/drawing/2014/main" id="{C1FEC004-D850-4088-B60A-7EC241657A03}"/>
              </a:ext>
            </a:extLst>
          </p:cNvPr>
          <p:cNvSpPr>
            <a:spLocks xmlns:a="http://schemas.openxmlformats.org/drawingml/2006/main" noGrp="1"/>
          </p:cNvSpPr>
          <p:nvPr/>
        </p:nvSpPr>
        <p:spPr>
          <a:xfrm xmlns:a="http://schemas.openxmlformats.org/drawingml/2006/main">
            <a:off x="10820400" y="632460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BB9CE"/>
                </a:solidFill>
                <a:latin typeface="Segoe UI"/>
                <a:ea typeface="Segoe UI"/>
                <a:cs typeface="Segoe UI"/>
              </a:defRPr>
            </a:pPr>
            <a:r>
              <a:rPr sz="1200" b="0">
                <a:solidFill>
                  <a:srgbClr val="ABB9CE"/>
                </a:solidFill>
                <a:latin typeface="Segoe UI"/>
                <a:ea typeface="Segoe UI"/>
                <a:cs typeface="Segoe UI"/>
              </a:rPr>
              <a:t>9 / 9</a:t>
            </a:r>
          </a:p>
        </p:txBody>
      </p:sp>
      <p:sp>
        <p:nvSpPr>
          <p:cNvPr id="4" name="text-4">
            <a:extLst xmlns:a="http://schemas.openxmlformats.org/drawingml/2006/main">
              <a:ext uri="{FF2B5EF4-FFF2-40B4-BE49-F238E27FC236}">
                <a16:creationId xmlns:a16="http://schemas.microsoft.com/office/drawing/2014/main" id="{7DD42B38-84EC-463A-AA53-7728CE2B5C39}"/>
              </a:ext>
            </a:extLst>
          </p:cNvPr>
          <p:cNvSpPr>
            <a:spLocks xmlns:a="http://schemas.openxmlformats.org/drawingml/2006/main" noGrp="1"/>
          </p:cNvSpPr>
          <p:nvPr/>
        </p:nvSpPr>
        <p:spPr>
          <a:xfrm xmlns:a="http://schemas.openxmlformats.org/drawingml/2006/main">
            <a:off x="685800" y="1952625"/>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F0F4F9"/>
                </a:solidFill>
                <a:latin typeface="Segoe UI"/>
                <a:ea typeface="Segoe UI"/>
                <a:cs typeface="Segoe UI"/>
              </a:defRPr>
            </a:pPr>
            <a:r>
              <a:rPr sz="2700" b="1">
                <a:solidFill>
                  <a:srgbClr val="F0F4F9"/>
                </a:solidFill>
                <a:latin typeface="Segoe UI"/>
                <a:ea typeface="Segoe UI"/>
                <a:cs typeface="Segoe UI"/>
              </a:rPr>
              <a:t>Pełna wymiana od oferty do rozliczenia.</a:t>
            </a:r>
          </a:p>
          <a:p xmlns:a="http://schemas.openxmlformats.org/drawingml/2006/main">
            <a:pPr>
              <a:defRPr sz="2700" b="1">
                <a:solidFill>
                  <a:srgbClr val="F0F4F9"/>
                </a:solidFill>
                <a:latin typeface="Segoe UI"/>
                <a:ea typeface="Segoe UI"/>
                <a:cs typeface="Segoe UI"/>
              </a:defRPr>
            </a:pPr>
            <a:r>
              <a:rPr sz="2700" b="1">
                <a:solidFill>
                  <a:srgbClr val="F0F4F9"/>
                </a:solidFill>
                <a:latin typeface="Segoe UI"/>
                <a:ea typeface="Segoe UI"/>
                <a:cs typeface="Segoe UI"/>
              </a:rPr>
              <a:t>Osobny scenariusz zwrotu po terminie.</a:t>
            </a:r>
          </a:p>
        </p:txBody>
      </p:sp>
      <p:sp>
        <p:nvSpPr>
          <p:cNvPr id="5" name="text-5">
            <a:extLst xmlns:a="http://schemas.openxmlformats.org/drawingml/2006/main">
              <a:ext uri="{FF2B5EF4-FFF2-40B4-BE49-F238E27FC236}">
                <a16:creationId xmlns:a16="http://schemas.microsoft.com/office/drawing/2014/main" id="{BF1D1E5D-2207-49E4-8B9C-392514400200}"/>
              </a:ext>
            </a:extLst>
          </p:cNvPr>
          <p:cNvSpPr>
            <a:spLocks xmlns:a="http://schemas.openxmlformats.org/drawingml/2006/main" noGrp="1"/>
          </p:cNvSpPr>
          <p:nvPr/>
        </p:nvSpPr>
        <p:spPr>
          <a:xfrm xmlns:a="http://schemas.openxmlformats.org/drawingml/2006/main">
            <a:off x="685800" y="35814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B8EF6C"/>
                </a:solidFill>
                <a:latin typeface="Segoe UI"/>
                <a:ea typeface="Segoe UI"/>
                <a:cs typeface="Segoe UI"/>
              </a:defRPr>
            </a:pPr>
            <a:r>
              <a:rPr sz="2175" b="1">
                <a:solidFill>
                  <a:srgbClr val="B8EF6C"/>
                </a:solidFill>
                <a:latin typeface="Segoe UI"/>
                <a:ea typeface="Segoe UI"/>
                <a:cs typeface="Segoe UI"/>
              </a:rPr>
              <a:t>Interaktywne Demo</a:t>
            </a:r>
          </a:p>
        </p:txBody>
      </p:sp>
      <p:sp>
        <p:nvSpPr>
          <p:cNvPr id="6" name="text-6">
            <a:extLst xmlns:a="http://schemas.openxmlformats.org/drawingml/2006/main">
              <a:ext uri="{FF2B5EF4-FFF2-40B4-BE49-F238E27FC236}">
                <a16:creationId xmlns:a16="http://schemas.microsoft.com/office/drawing/2014/main" id="{5160B78F-374C-4F6B-9EE6-502E494F34E8}"/>
              </a:ext>
            </a:extLst>
          </p:cNvPr>
          <p:cNvSpPr>
            <a:spLocks xmlns:a="http://schemas.openxmlformats.org/drawingml/2006/main" noGrp="1"/>
          </p:cNvSpPr>
          <p:nvPr/>
        </p:nvSpPr>
        <p:spPr>
          <a:xfrm xmlns:a="http://schemas.openxmlformats.org/drawingml/2006/main">
            <a:off x="685800" y="410527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0F4F9"/>
                </a:solidFill>
                <a:latin typeface="Segoe UI"/>
                <a:ea typeface="Segoe UI"/>
                <a:cs typeface="Segoe UI"/>
              </a:defRPr>
            </a:pPr>
            <a:r>
              <a:rPr sz="2325" b="0">
                <a:solidFill>
                  <a:srgbClr val="F0F4F9"/>
                </a:solidFill>
                <a:latin typeface="Segoe UI"/>
                <a:ea typeface="Segoe UI"/>
                <a:cs typeface="Segoe UI"/>
                <a:hlinkClick xmlns:r="http://schemas.openxmlformats.org/officeDocument/2006/relationships" r:id="Rb0c885aac8294cfd"/>
              </a:rPr>
              <a:t>defozo.github.io/swapcircle-hackyeah2026</a:t>
            </a:r>
          </a:p>
        </p:txBody>
      </p:sp>
      <p:sp>
        <p:nvSpPr>
          <p:cNvPr id="7" name="text-7">
            <a:extLst xmlns:a="http://schemas.openxmlformats.org/drawingml/2006/main">
              <a:ext uri="{FF2B5EF4-FFF2-40B4-BE49-F238E27FC236}">
                <a16:creationId xmlns:a16="http://schemas.microsoft.com/office/drawing/2014/main" id="{E95E29D0-2317-4F1A-9498-81C886ACF2BF}"/>
              </a:ext>
            </a:extLst>
          </p:cNvPr>
          <p:cNvSpPr>
            <a:spLocks xmlns:a="http://schemas.openxmlformats.org/drawingml/2006/main" noGrp="1"/>
          </p:cNvSpPr>
          <p:nvPr/>
        </p:nvSpPr>
        <p:spPr>
          <a:xfrm xmlns:a="http://schemas.openxmlformats.org/drawingml/2006/main">
            <a:off x="685800" y="503872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ABB9CE"/>
                </a:solidFill>
                <a:latin typeface="Segoe UI"/>
                <a:ea typeface="Segoe UI"/>
                <a:cs typeface="Segoe UI"/>
              </a:defRPr>
            </a:pPr>
            <a:r>
              <a:rPr sz="1725" b="0">
                <a:solidFill>
                  <a:srgbClr val="ABB9CE"/>
                </a:solidFill>
                <a:latin typeface="Segoe UI"/>
                <a:ea typeface="Segoe UI"/>
                <a:cs typeface="Segoe UI"/>
              </a:rPr>
              <a:t>Kod i uruchomienie: </a:t>
            </a:r>
            <a:r>
              <a:rPr sz="1725" b="0">
                <a:solidFill>
                  <a:srgbClr val="ABB9CE"/>
                </a:solidFill>
                <a:latin typeface="Segoe UI"/>
                <a:ea typeface="Segoe UI"/>
                <a:cs typeface="Segoe UI"/>
                <a:hlinkClick xmlns:r="http://schemas.openxmlformats.org/officeDocument/2006/relationships" r:id="R20d63656231f4a42"/>
              </a:rPr>
              <a:t>github.com/Defozo/swapcircle-hackyeah2026</a:t>
            </a:r>
          </a:p>
        </p:txBody>
      </p:sp>
      <p:sp>
        <p:nvSpPr>
          <p:cNvPr id="8" name="text-8">
            <a:extLst xmlns:a="http://schemas.openxmlformats.org/drawingml/2006/main">
              <a:ext uri="{FF2B5EF4-FFF2-40B4-BE49-F238E27FC236}">
                <a16:creationId xmlns:a16="http://schemas.microsoft.com/office/drawing/2014/main" id="{DE74C3C5-F4D7-4074-B19E-75C9B4508255}"/>
              </a:ext>
            </a:extLst>
          </p:cNvPr>
          <p:cNvSpPr>
            <a:spLocks xmlns:a="http://schemas.openxmlformats.org/drawingml/2006/main" noGrp="1"/>
          </p:cNvSpPr>
          <p:nvPr/>
        </p:nvSpPr>
        <p:spPr>
          <a:xfrm xmlns:a="http://schemas.openxmlformats.org/drawingml/2006/main">
            <a:off x="685800" y="57816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ABB9CE"/>
                </a:solidFill>
                <a:latin typeface="Segoe UI"/>
                <a:ea typeface="Segoe UI"/>
                <a:cs typeface="Segoe UI"/>
              </a:defRPr>
            </a:pPr>
            <a:r>
              <a:rPr sz="1650" b="0">
                <a:solidFill>
                  <a:srgbClr val="ABB9CE"/>
                </a:solidFill>
                <a:latin typeface="Segoe UI"/>
                <a:ea typeface="Segoe UI"/>
                <a:cs typeface="Segoe UI"/>
              </a:rPr>
              <a:t>DEFOZO SOFTWARE HOUSE   Michał Kiełtyka</a:t>
            </a:r>
          </a:p>
        </p:txBody>
      </p:sp>
    </p:spTree>
    <p:extLst>
      <p:ext uri="{BB962C8B-B14F-4D97-AF65-F5344CB8AC3E}">
        <p14:creationId xmlns:p14="http://schemas.microsoft.com/office/powerpoint/2010/main" val="1743102843"/>
      </p:ext>
    </p:extLst>
  </p:cSld>
</p:sld>
</file>

<file path=ppt/theme/theme1.xml><?xml version="1.0" encoding="utf-8"?>
<a:theme xmlns:a="http://schemas.openxmlformats.org/drawingml/2006/main" name="ChatGPT">
  <a:themeElements>
    <a:clrScheme name="SwapCircle">
      <a:dk1>
        <a:srgbClr val="0C1424"/>
      </a:dk1>
      <a:lt1>
        <a:srgbClr val="F0F4F9"/>
      </a:lt1>
      <a:dk2>
        <a:srgbClr val="181F29"/>
      </a:dk2>
      <a:lt2>
        <a:srgbClr val="ABB9CE"/>
      </a:lt2>
      <a:accent1>
        <a:srgbClr val="B8EF6C"/>
      </a:accent1>
      <a:accent2>
        <a:srgbClr val="ABB9CE"/>
      </a:accent2>
      <a:accent3>
        <a:srgbClr val="DCC281"/>
      </a:accent3>
      <a:accent4>
        <a:srgbClr val="94A8E7"/>
      </a:accent4>
      <a:accent5>
        <a:srgbClr val="AEE5CC"/>
      </a:accent5>
      <a:accent6>
        <a:srgbClr val="E4AC9D"/>
      </a:accent6>
      <a:hlink>
        <a:srgbClr val="B8EF6C"/>
      </a:hlink>
      <a:folHlink>
        <a:srgbClr val="B8EF6C"/>
      </a:folHlink>
    </a:clrScheme>
    <a:fontScheme name="Office">
      <a:majorFont>
        <a:latin typeface="Calibri Light"/>
        <a:ea typeface="Calibri Light"/>
        <a:cs typeface="Calibri Light"/>
      </a:majorFont>
      <a:minorFont>
        <a:latin typeface="Calibri"/>
        <a:ea typeface="Calibri"/>
        <a:cs typeface="Calibri"/>
      </a:minorFont>
    </a:fontScheme>
    <a:fmtScheme name="SwapCircl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2026-10-03T21:23:32.7680000Z</dcterms:created>
  <dcterms:modified xsi:type="dcterms:W3CDTF">2026-10-03T21:23:32.7680000Z</dcterms:modified>
</coreProperties>
</file>